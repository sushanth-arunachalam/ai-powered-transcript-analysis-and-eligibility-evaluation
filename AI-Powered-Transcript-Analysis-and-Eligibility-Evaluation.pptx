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6" r:id="rId11"/>
    <p:sldId id="265" r:id="rId12"/>
    <p:sldId id="267" r:id="rId13"/>
  </p:sldIdLst>
  <p:sldSz cx="14630400" cy="8229600"/>
  <p:notesSz cx="8229600" cy="14630400"/>
  <p:embeddedFontLst>
    <p:embeddedFont>
      <p:font typeface="Raleway" pitchFamily="2" charset="0"/>
      <p:regular r:id="rId15"/>
    </p:embeddedFont>
    <p:embeddedFont>
      <p:font typeface="Roboto" panose="02000000000000000000" pitchFamily="2"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5" d="100"/>
          <a:sy n="85" d="100"/>
        </p:scale>
        <p:origin x="8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7487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5F50E-F07E-6FAE-7308-6EEC80E6DA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28D4E5-BD26-B613-8241-83AFC4CC90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14E2BD-1AA2-7074-B0C8-BF0E621724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82BCE8-0889-C083-8DCA-7A7FC5ED6BEB}"/>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5096144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AE343-C7B8-4D40-4FE5-09431AF929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E6322-401F-3119-2F50-45907EC369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CB6008-B85F-1CDB-51FC-9EF1F4FEB8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97120E-DC11-BD60-514A-24A4B5C50771}"/>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9125947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txBody>
          <a:bodyPr/>
          <a:lstStyle/>
          <a:p>
            <a:endParaRPr lang="en-US"/>
          </a:p>
        </p:txBody>
      </p:sp>
      <p:sp>
        <p:nvSpPr>
          <p:cNvPr id="3" name="Shape 1"/>
          <p:cNvSpPr/>
          <p:nvPr/>
        </p:nvSpPr>
        <p:spPr>
          <a:xfrm>
            <a:off x="0" y="0"/>
            <a:ext cx="14630400" cy="8229600"/>
          </a:xfrm>
          <a:prstGeom prst="rect">
            <a:avLst/>
          </a:prstGeom>
          <a:solidFill>
            <a:srgbClr val="FFFFFF">
              <a:alpha val="95000"/>
            </a:srgbClr>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3.sv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s>
</file>

<file path=ppt/slides/_rels/slide9.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sv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32.sv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svg"/><Relationship Id="rId4" Type="http://schemas.openxmlformats.org/officeDocument/2006/relationships/image" Target="../media/image30.svg"/><Relationship Id="rId9" Type="http://schemas.openxmlformats.org/officeDocument/2006/relationships/image" Target="../media/image35.png"/></Relationships>
</file>

<file path=ppt/slides/_rels/slide1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831902"/>
            <a:ext cx="13042821" cy="1417558"/>
          </a:xfrm>
          <a:prstGeom prst="rect">
            <a:avLst/>
          </a:prstGeom>
          <a:noFill/>
          <a:ln/>
        </p:spPr>
        <p:txBody>
          <a:bodyPr wrap="squar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AI-Powered Transcript Analysis &amp; Eligibility Evaluation</a:t>
            </a:r>
            <a:endParaRPr lang="en-US" sz="4450" dirty="0"/>
          </a:p>
        </p:txBody>
      </p:sp>
      <p:sp>
        <p:nvSpPr>
          <p:cNvPr id="3" name="Text 1"/>
          <p:cNvSpPr/>
          <p:nvPr/>
        </p:nvSpPr>
        <p:spPr>
          <a:xfrm>
            <a:off x="793790" y="4340185"/>
            <a:ext cx="7820144" cy="354330"/>
          </a:xfrm>
          <a:prstGeom prst="rect">
            <a:avLst/>
          </a:prstGeom>
          <a:noFill/>
          <a:ln/>
        </p:spPr>
        <p:txBody>
          <a:bodyPr wrap="none" lIns="0" tIns="0" rIns="0" bIns="0" rtlCol="0" anchor="t"/>
          <a:lstStyle/>
          <a:p>
            <a:pPr marL="0" indent="0" algn="l">
              <a:lnSpc>
                <a:spcPts val="2750"/>
              </a:lnSpc>
              <a:buNone/>
            </a:pPr>
            <a:r>
              <a:rPr lang="en-US" sz="2200" dirty="0">
                <a:solidFill>
                  <a:srgbClr val="1B1B27"/>
                </a:solidFill>
                <a:latin typeface="Raleway" pitchFamily="34" charset="0"/>
                <a:ea typeface="Raleway" pitchFamily="34" charset="-122"/>
                <a:cs typeface="Raleway" pitchFamily="34" charset="-120"/>
              </a:rPr>
              <a:t>Automated GPA Extraction &amp; Program Eligibility Assessment</a:t>
            </a:r>
            <a:endParaRPr lang="en-US" sz="2200" dirty="0"/>
          </a:p>
        </p:txBody>
      </p:sp>
      <p:sp>
        <p:nvSpPr>
          <p:cNvPr id="4" name="Text 2"/>
          <p:cNvSpPr/>
          <p:nvPr/>
        </p:nvSpPr>
        <p:spPr>
          <a:xfrm>
            <a:off x="793790" y="5034677"/>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Presented by Sushanth Arunachalam for Capstone Presentation</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404110"/>
            <a:ext cx="7524869" cy="496133"/>
          </a:xfrm>
          <a:prstGeom prst="rect">
            <a:avLst/>
          </a:prstGeom>
          <a:noFill/>
          <a:ln/>
        </p:spPr>
        <p:txBody>
          <a:bodyPr wrap="none" lIns="0" tIns="0" rIns="0" bIns="0" rtlCol="0" anchor="t"/>
          <a:lstStyle/>
          <a:p>
            <a:pPr marL="0" indent="0" algn="l">
              <a:lnSpc>
                <a:spcPts val="3900"/>
              </a:lnSpc>
              <a:buNone/>
            </a:pPr>
            <a:r>
              <a:rPr lang="en-US" sz="3100" dirty="0">
                <a:solidFill>
                  <a:srgbClr val="1B1B27"/>
                </a:solidFill>
                <a:latin typeface="Raleway" pitchFamily="34" charset="0"/>
                <a:ea typeface="Raleway" pitchFamily="34" charset="-122"/>
                <a:cs typeface="Raleway" pitchFamily="34" charset="-120"/>
              </a:rPr>
              <a:t>The Challenge: Manual Transcript Review</a:t>
            </a:r>
            <a:endParaRPr lang="en-US" sz="3100" dirty="0"/>
          </a:p>
        </p:txBody>
      </p:sp>
      <p:sp>
        <p:nvSpPr>
          <p:cNvPr id="3" name="Shape 1"/>
          <p:cNvSpPr/>
          <p:nvPr/>
        </p:nvSpPr>
        <p:spPr>
          <a:xfrm>
            <a:off x="793790" y="3138368"/>
            <a:ext cx="6441996" cy="1264206"/>
          </a:xfrm>
          <a:prstGeom prst="roundRect">
            <a:avLst>
              <a:gd name="adj" fmla="val 8680"/>
            </a:avLst>
          </a:prstGeom>
          <a:solidFill>
            <a:srgbClr val="FFFFFF">
              <a:alpha val="95000"/>
            </a:srgbClr>
          </a:solidFill>
          <a:ln w="22860">
            <a:solidFill>
              <a:srgbClr val="C7C7D0"/>
            </a:solidFill>
            <a:prstDash val="solid"/>
          </a:ln>
        </p:spPr>
        <p:txBody>
          <a:bodyPr/>
          <a:lstStyle/>
          <a:p>
            <a:endParaRPr lang="en-US"/>
          </a:p>
        </p:txBody>
      </p:sp>
      <p:sp>
        <p:nvSpPr>
          <p:cNvPr id="4" name="Shape 2"/>
          <p:cNvSpPr/>
          <p:nvPr/>
        </p:nvSpPr>
        <p:spPr>
          <a:xfrm>
            <a:off x="770930" y="3138368"/>
            <a:ext cx="91440" cy="1264206"/>
          </a:xfrm>
          <a:prstGeom prst="roundRect">
            <a:avLst>
              <a:gd name="adj" fmla="val 72930"/>
            </a:avLst>
          </a:prstGeom>
          <a:solidFill>
            <a:srgbClr val="1B1B27"/>
          </a:solidFill>
          <a:ln/>
        </p:spPr>
        <p:txBody>
          <a:bodyPr/>
          <a:lstStyle/>
          <a:p>
            <a:endParaRPr lang="en-US"/>
          </a:p>
        </p:txBody>
      </p:sp>
      <p:sp>
        <p:nvSpPr>
          <p:cNvPr id="5" name="Text 3"/>
          <p:cNvSpPr/>
          <p:nvPr/>
        </p:nvSpPr>
        <p:spPr>
          <a:xfrm>
            <a:off x="1043940" y="3319939"/>
            <a:ext cx="3270647" cy="297656"/>
          </a:xfrm>
          <a:prstGeom prst="rect">
            <a:avLst/>
          </a:prstGeom>
          <a:noFill/>
          <a:ln/>
        </p:spPr>
        <p:txBody>
          <a:bodyPr wrap="none" lIns="0" tIns="0" rIns="0" bIns="0" rtlCol="0" anchor="t"/>
          <a:lstStyle/>
          <a:p>
            <a:pPr marL="0" indent="0" algn="l">
              <a:lnSpc>
                <a:spcPts val="2300"/>
              </a:lnSpc>
              <a:buNone/>
            </a:pPr>
            <a:r>
              <a:rPr lang="en-US" sz="1850" dirty="0">
                <a:solidFill>
                  <a:srgbClr val="3C3939"/>
                </a:solidFill>
                <a:latin typeface="Raleway" pitchFamily="34" charset="0"/>
                <a:ea typeface="Raleway" pitchFamily="34" charset="-122"/>
                <a:cs typeface="Raleway" pitchFamily="34" charset="-120"/>
              </a:rPr>
              <a:t>Slow &amp; Error-Prone Processes</a:t>
            </a:r>
            <a:endParaRPr lang="en-US" sz="1850" dirty="0"/>
          </a:p>
        </p:txBody>
      </p:sp>
      <p:sp>
        <p:nvSpPr>
          <p:cNvPr id="6" name="Text 4"/>
          <p:cNvSpPr/>
          <p:nvPr/>
        </p:nvSpPr>
        <p:spPr>
          <a:xfrm>
            <a:off x="1043940" y="3712845"/>
            <a:ext cx="6010275" cy="508159"/>
          </a:xfrm>
          <a:prstGeom prst="rect">
            <a:avLst/>
          </a:prstGeom>
          <a:noFill/>
          <a:ln/>
        </p:spPr>
        <p:txBody>
          <a:bodyPr wrap="square" lIns="0" tIns="0" rIns="0" bIns="0" rtlCol="0" anchor="t"/>
          <a:lstStyle/>
          <a:p>
            <a:pPr marL="0" indent="0" algn="l">
              <a:lnSpc>
                <a:spcPts val="2000"/>
              </a:lnSpc>
              <a:buNone/>
            </a:pPr>
            <a:r>
              <a:rPr lang="en-US" sz="1250" dirty="0">
                <a:solidFill>
                  <a:srgbClr val="3C3939"/>
                </a:solidFill>
                <a:latin typeface="Roboto" pitchFamily="34" charset="0"/>
                <a:ea typeface="Roboto" pitchFamily="34" charset="-122"/>
                <a:cs typeface="Roboto" pitchFamily="34" charset="-120"/>
              </a:rPr>
              <a:t>Manual review of academic transcripts is a time-consuming and often inaccurate task, leading to significant delays in admissions.</a:t>
            </a:r>
            <a:endParaRPr lang="en-US" sz="1250" dirty="0"/>
          </a:p>
        </p:txBody>
      </p:sp>
      <p:sp>
        <p:nvSpPr>
          <p:cNvPr id="7" name="Shape 5"/>
          <p:cNvSpPr/>
          <p:nvPr/>
        </p:nvSpPr>
        <p:spPr>
          <a:xfrm>
            <a:off x="7394496" y="3138368"/>
            <a:ext cx="6442115" cy="1264206"/>
          </a:xfrm>
          <a:prstGeom prst="roundRect">
            <a:avLst>
              <a:gd name="adj" fmla="val 8680"/>
            </a:avLst>
          </a:prstGeom>
          <a:solidFill>
            <a:srgbClr val="FFFFFF">
              <a:alpha val="95000"/>
            </a:srgbClr>
          </a:solidFill>
          <a:ln w="22860">
            <a:solidFill>
              <a:srgbClr val="C7C7D0"/>
            </a:solidFill>
            <a:prstDash val="solid"/>
          </a:ln>
        </p:spPr>
        <p:txBody>
          <a:bodyPr/>
          <a:lstStyle/>
          <a:p>
            <a:endParaRPr lang="en-US"/>
          </a:p>
        </p:txBody>
      </p:sp>
      <p:sp>
        <p:nvSpPr>
          <p:cNvPr id="8" name="Shape 6"/>
          <p:cNvSpPr/>
          <p:nvPr/>
        </p:nvSpPr>
        <p:spPr>
          <a:xfrm>
            <a:off x="7371636" y="3138368"/>
            <a:ext cx="91440" cy="1264206"/>
          </a:xfrm>
          <a:prstGeom prst="roundRect">
            <a:avLst>
              <a:gd name="adj" fmla="val 72930"/>
            </a:avLst>
          </a:prstGeom>
          <a:solidFill>
            <a:srgbClr val="1B1B27"/>
          </a:solidFill>
          <a:ln/>
        </p:spPr>
        <p:txBody>
          <a:bodyPr/>
          <a:lstStyle/>
          <a:p>
            <a:endParaRPr lang="en-US"/>
          </a:p>
        </p:txBody>
      </p:sp>
      <p:sp>
        <p:nvSpPr>
          <p:cNvPr id="9" name="Text 7"/>
          <p:cNvSpPr/>
          <p:nvPr/>
        </p:nvSpPr>
        <p:spPr>
          <a:xfrm>
            <a:off x="7644646" y="3319939"/>
            <a:ext cx="3004661" cy="297656"/>
          </a:xfrm>
          <a:prstGeom prst="rect">
            <a:avLst/>
          </a:prstGeom>
          <a:noFill/>
          <a:ln/>
        </p:spPr>
        <p:txBody>
          <a:bodyPr wrap="none" lIns="0" tIns="0" rIns="0" bIns="0" rtlCol="0" anchor="t"/>
          <a:lstStyle/>
          <a:p>
            <a:pPr marL="0" indent="0" algn="l">
              <a:lnSpc>
                <a:spcPts val="2300"/>
              </a:lnSpc>
              <a:buNone/>
            </a:pPr>
            <a:r>
              <a:rPr lang="en-US" sz="1850" dirty="0">
                <a:solidFill>
                  <a:srgbClr val="3C3939"/>
                </a:solidFill>
                <a:latin typeface="Raleway" pitchFamily="34" charset="0"/>
                <a:ea typeface="Raleway" pitchFamily="34" charset="-122"/>
                <a:cs typeface="Raleway" pitchFamily="34" charset="-120"/>
              </a:rPr>
              <a:t>Diverse Document Formats</a:t>
            </a:r>
            <a:endParaRPr lang="en-US" sz="1850" dirty="0"/>
          </a:p>
        </p:txBody>
      </p:sp>
      <p:sp>
        <p:nvSpPr>
          <p:cNvPr id="10" name="Text 8"/>
          <p:cNvSpPr/>
          <p:nvPr/>
        </p:nvSpPr>
        <p:spPr>
          <a:xfrm>
            <a:off x="7644646" y="3712845"/>
            <a:ext cx="6010394" cy="508159"/>
          </a:xfrm>
          <a:prstGeom prst="rect">
            <a:avLst/>
          </a:prstGeom>
          <a:noFill/>
          <a:ln/>
        </p:spPr>
        <p:txBody>
          <a:bodyPr wrap="square" lIns="0" tIns="0" rIns="0" bIns="0" rtlCol="0" anchor="t"/>
          <a:lstStyle/>
          <a:p>
            <a:pPr marL="0" indent="0" algn="l">
              <a:lnSpc>
                <a:spcPts val="2000"/>
              </a:lnSpc>
              <a:buNone/>
            </a:pPr>
            <a:r>
              <a:rPr lang="en-US" sz="1250" dirty="0">
                <a:solidFill>
                  <a:srgbClr val="3C3939"/>
                </a:solidFill>
                <a:latin typeface="Roboto" pitchFamily="34" charset="0"/>
                <a:ea typeface="Roboto" pitchFamily="34" charset="-122"/>
                <a:cs typeface="Roboto" pitchFamily="34" charset="-120"/>
              </a:rPr>
              <a:t>Transcripts arrive in various formats, including PDFs, scanned documents, and even mobile photos, each presenting unique challenges for data processing.</a:t>
            </a:r>
            <a:endParaRPr lang="en-US" sz="1250" dirty="0"/>
          </a:p>
        </p:txBody>
      </p:sp>
      <p:sp>
        <p:nvSpPr>
          <p:cNvPr id="11" name="Shape 9"/>
          <p:cNvSpPr/>
          <p:nvPr/>
        </p:nvSpPr>
        <p:spPr>
          <a:xfrm>
            <a:off x="793790" y="4561284"/>
            <a:ext cx="6441996" cy="1264206"/>
          </a:xfrm>
          <a:prstGeom prst="roundRect">
            <a:avLst>
              <a:gd name="adj" fmla="val 8680"/>
            </a:avLst>
          </a:prstGeom>
          <a:solidFill>
            <a:srgbClr val="FFFFFF">
              <a:alpha val="95000"/>
            </a:srgbClr>
          </a:solidFill>
          <a:ln w="22860">
            <a:solidFill>
              <a:srgbClr val="C7C7D0"/>
            </a:solidFill>
            <a:prstDash val="solid"/>
          </a:ln>
        </p:spPr>
        <p:txBody>
          <a:bodyPr/>
          <a:lstStyle/>
          <a:p>
            <a:endParaRPr lang="en-US"/>
          </a:p>
        </p:txBody>
      </p:sp>
      <p:sp>
        <p:nvSpPr>
          <p:cNvPr id="12" name="Shape 10"/>
          <p:cNvSpPr/>
          <p:nvPr/>
        </p:nvSpPr>
        <p:spPr>
          <a:xfrm>
            <a:off x="770930" y="4561284"/>
            <a:ext cx="91440" cy="1264206"/>
          </a:xfrm>
          <a:prstGeom prst="roundRect">
            <a:avLst>
              <a:gd name="adj" fmla="val 72930"/>
            </a:avLst>
          </a:prstGeom>
          <a:solidFill>
            <a:srgbClr val="1B1B27"/>
          </a:solidFill>
          <a:ln/>
        </p:spPr>
        <p:txBody>
          <a:bodyPr/>
          <a:lstStyle/>
          <a:p>
            <a:endParaRPr lang="en-US"/>
          </a:p>
        </p:txBody>
      </p:sp>
      <p:sp>
        <p:nvSpPr>
          <p:cNvPr id="13" name="Text 11"/>
          <p:cNvSpPr/>
          <p:nvPr/>
        </p:nvSpPr>
        <p:spPr>
          <a:xfrm>
            <a:off x="1043940" y="4742855"/>
            <a:ext cx="2381607" cy="297656"/>
          </a:xfrm>
          <a:prstGeom prst="rect">
            <a:avLst/>
          </a:prstGeom>
          <a:noFill/>
          <a:ln/>
        </p:spPr>
        <p:txBody>
          <a:bodyPr wrap="none" lIns="0" tIns="0" rIns="0" bIns="0" rtlCol="0" anchor="t"/>
          <a:lstStyle/>
          <a:p>
            <a:pPr marL="0" indent="0" algn="l">
              <a:lnSpc>
                <a:spcPts val="2300"/>
              </a:lnSpc>
              <a:buNone/>
            </a:pPr>
            <a:r>
              <a:rPr lang="en-US" sz="1850" dirty="0">
                <a:solidFill>
                  <a:srgbClr val="3C3939"/>
                </a:solidFill>
                <a:latin typeface="Raleway" pitchFamily="34" charset="0"/>
                <a:ea typeface="Raleway" pitchFamily="34" charset="-122"/>
                <a:cs typeface="Raleway" pitchFamily="34" charset="-120"/>
              </a:rPr>
              <a:t>OCR Limitations</a:t>
            </a:r>
            <a:endParaRPr lang="en-US" sz="1850" dirty="0"/>
          </a:p>
        </p:txBody>
      </p:sp>
      <p:sp>
        <p:nvSpPr>
          <p:cNvPr id="14" name="Text 12"/>
          <p:cNvSpPr/>
          <p:nvPr/>
        </p:nvSpPr>
        <p:spPr>
          <a:xfrm>
            <a:off x="1043940" y="5135761"/>
            <a:ext cx="6010275" cy="508159"/>
          </a:xfrm>
          <a:prstGeom prst="rect">
            <a:avLst/>
          </a:prstGeom>
          <a:noFill/>
          <a:ln/>
        </p:spPr>
        <p:txBody>
          <a:bodyPr wrap="square" lIns="0" tIns="0" rIns="0" bIns="0" rtlCol="0" anchor="t"/>
          <a:lstStyle/>
          <a:p>
            <a:pPr marL="0" indent="0" algn="l">
              <a:lnSpc>
                <a:spcPts val="2000"/>
              </a:lnSpc>
              <a:buNone/>
            </a:pPr>
            <a:r>
              <a:rPr lang="en-US" sz="1250" dirty="0">
                <a:solidFill>
                  <a:srgbClr val="3C3939"/>
                </a:solidFill>
                <a:latin typeface="Roboto" pitchFamily="34" charset="0"/>
                <a:ea typeface="Roboto" pitchFamily="34" charset="-122"/>
                <a:cs typeface="Roboto" pitchFamily="34" charset="-120"/>
              </a:rPr>
              <a:t>Traditional Optical Character Recognition (OCR) struggles with low-quality images, blurry text, and inconsistent layouts, common in received transcripts.</a:t>
            </a:r>
            <a:endParaRPr lang="en-US" sz="1250" dirty="0"/>
          </a:p>
        </p:txBody>
      </p:sp>
      <p:sp>
        <p:nvSpPr>
          <p:cNvPr id="15" name="Shape 13"/>
          <p:cNvSpPr/>
          <p:nvPr/>
        </p:nvSpPr>
        <p:spPr>
          <a:xfrm>
            <a:off x="7394496" y="4561284"/>
            <a:ext cx="6442115" cy="1264206"/>
          </a:xfrm>
          <a:prstGeom prst="roundRect">
            <a:avLst>
              <a:gd name="adj" fmla="val 8680"/>
            </a:avLst>
          </a:prstGeom>
          <a:solidFill>
            <a:srgbClr val="FFFFFF">
              <a:alpha val="95000"/>
            </a:srgbClr>
          </a:solidFill>
          <a:ln w="22860">
            <a:solidFill>
              <a:srgbClr val="C7C7D0"/>
            </a:solidFill>
            <a:prstDash val="solid"/>
          </a:ln>
        </p:spPr>
        <p:txBody>
          <a:bodyPr/>
          <a:lstStyle/>
          <a:p>
            <a:endParaRPr lang="en-US"/>
          </a:p>
        </p:txBody>
      </p:sp>
      <p:sp>
        <p:nvSpPr>
          <p:cNvPr id="16" name="Shape 14"/>
          <p:cNvSpPr/>
          <p:nvPr/>
        </p:nvSpPr>
        <p:spPr>
          <a:xfrm>
            <a:off x="7371636" y="4561284"/>
            <a:ext cx="91440" cy="1264206"/>
          </a:xfrm>
          <a:prstGeom prst="roundRect">
            <a:avLst>
              <a:gd name="adj" fmla="val 72930"/>
            </a:avLst>
          </a:prstGeom>
          <a:solidFill>
            <a:srgbClr val="1B1B27"/>
          </a:solidFill>
          <a:ln/>
        </p:spPr>
        <p:txBody>
          <a:bodyPr/>
          <a:lstStyle/>
          <a:p>
            <a:endParaRPr lang="en-US"/>
          </a:p>
        </p:txBody>
      </p:sp>
      <p:sp>
        <p:nvSpPr>
          <p:cNvPr id="17" name="Text 15"/>
          <p:cNvSpPr/>
          <p:nvPr/>
        </p:nvSpPr>
        <p:spPr>
          <a:xfrm>
            <a:off x="7644646" y="4742855"/>
            <a:ext cx="2381607" cy="297656"/>
          </a:xfrm>
          <a:prstGeom prst="rect">
            <a:avLst/>
          </a:prstGeom>
          <a:noFill/>
          <a:ln/>
        </p:spPr>
        <p:txBody>
          <a:bodyPr wrap="none" lIns="0" tIns="0" rIns="0" bIns="0" rtlCol="0" anchor="t"/>
          <a:lstStyle/>
          <a:p>
            <a:pPr marL="0" indent="0" algn="l">
              <a:lnSpc>
                <a:spcPts val="2300"/>
              </a:lnSpc>
              <a:buNone/>
            </a:pPr>
            <a:r>
              <a:rPr lang="en-US" sz="1850" dirty="0">
                <a:solidFill>
                  <a:srgbClr val="3C3939"/>
                </a:solidFill>
                <a:latin typeface="Raleway" pitchFamily="34" charset="0"/>
                <a:ea typeface="Raleway" pitchFamily="34" charset="-122"/>
                <a:cs typeface="Raleway" pitchFamily="34" charset="-120"/>
              </a:rPr>
              <a:t>Need for Automation</a:t>
            </a:r>
            <a:endParaRPr lang="en-US" sz="1850" dirty="0"/>
          </a:p>
        </p:txBody>
      </p:sp>
      <p:sp>
        <p:nvSpPr>
          <p:cNvPr id="18" name="Text 16"/>
          <p:cNvSpPr/>
          <p:nvPr/>
        </p:nvSpPr>
        <p:spPr>
          <a:xfrm>
            <a:off x="7644646" y="5135761"/>
            <a:ext cx="6010394" cy="508159"/>
          </a:xfrm>
          <a:prstGeom prst="rect">
            <a:avLst/>
          </a:prstGeom>
          <a:noFill/>
          <a:ln/>
        </p:spPr>
        <p:txBody>
          <a:bodyPr wrap="square" lIns="0" tIns="0" rIns="0" bIns="0" rtlCol="0" anchor="t"/>
          <a:lstStyle/>
          <a:p>
            <a:pPr marL="0" indent="0" algn="l">
              <a:lnSpc>
                <a:spcPts val="2000"/>
              </a:lnSpc>
              <a:buNone/>
            </a:pPr>
            <a:r>
              <a:rPr lang="en-US" sz="1250" dirty="0">
                <a:solidFill>
                  <a:srgbClr val="3C3939"/>
                </a:solidFill>
                <a:latin typeface="Roboto" pitchFamily="34" charset="0"/>
                <a:ea typeface="Roboto" pitchFamily="34" charset="-122"/>
                <a:cs typeface="Roboto" pitchFamily="34" charset="-120"/>
              </a:rPr>
              <a:t>Academic institutions urgently require an automated, accurate, and efficient solution for extracting critical information from transcripts.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714970"/>
            <a:ext cx="4062412" cy="460772"/>
          </a:xfrm>
          <a:prstGeom prst="rect">
            <a:avLst/>
          </a:prstGeom>
          <a:noFill/>
          <a:ln/>
        </p:spPr>
        <p:txBody>
          <a:bodyPr wrap="none" lIns="0" tIns="0" rIns="0" bIns="0" rtlCol="0" anchor="t"/>
          <a:lstStyle/>
          <a:p>
            <a:pPr marL="0" indent="0" algn="l">
              <a:lnSpc>
                <a:spcPts val="3600"/>
              </a:lnSpc>
              <a:buNone/>
            </a:pPr>
            <a:r>
              <a:rPr lang="en-US" sz="2900" dirty="0">
                <a:solidFill>
                  <a:srgbClr val="1B1B27"/>
                </a:solidFill>
                <a:latin typeface="Raleway" pitchFamily="34" charset="0"/>
                <a:ea typeface="Raleway" pitchFamily="34" charset="-122"/>
                <a:cs typeface="Raleway" pitchFamily="34" charset="-120"/>
              </a:rPr>
              <a:t>Ambitious Project Goals</a:t>
            </a:r>
            <a:endParaRPr lang="en-US" sz="2900" dirty="0"/>
          </a:p>
        </p:txBody>
      </p:sp>
      <p:sp>
        <p:nvSpPr>
          <p:cNvPr id="3" name="Shape 1"/>
          <p:cNvSpPr/>
          <p:nvPr/>
        </p:nvSpPr>
        <p:spPr>
          <a:xfrm>
            <a:off x="941189" y="1691640"/>
            <a:ext cx="147399" cy="663297"/>
          </a:xfrm>
          <a:prstGeom prst="roundRect">
            <a:avLst>
              <a:gd name="adj" fmla="val 42011"/>
            </a:avLst>
          </a:prstGeom>
          <a:solidFill>
            <a:srgbClr val="E1E1EA"/>
          </a:solidFill>
          <a:ln w="7620">
            <a:solidFill>
              <a:srgbClr val="C7C7D0"/>
            </a:solidFill>
            <a:prstDash val="solid"/>
          </a:ln>
        </p:spPr>
        <p:txBody>
          <a:bodyPr/>
          <a:lstStyle/>
          <a:p>
            <a:endParaRPr lang="en-US"/>
          </a:p>
        </p:txBody>
      </p:sp>
      <p:sp>
        <p:nvSpPr>
          <p:cNvPr id="4" name="Shape 2"/>
          <p:cNvSpPr/>
          <p:nvPr/>
        </p:nvSpPr>
        <p:spPr>
          <a:xfrm>
            <a:off x="793790" y="1594842"/>
            <a:ext cx="442198" cy="442198"/>
          </a:xfrm>
          <a:prstGeom prst="roundRect">
            <a:avLst>
              <a:gd name="adj" fmla="val 103393"/>
            </a:avLst>
          </a:prstGeom>
          <a:solidFill>
            <a:srgbClr val="E1E1EA"/>
          </a:solidFill>
          <a:ln w="7620">
            <a:solidFill>
              <a:srgbClr val="C7C7D0"/>
            </a:solidFill>
            <a:prstDash val="solid"/>
          </a:ln>
        </p:spPr>
        <p:txBody>
          <a:bodyPr/>
          <a:lstStyle/>
          <a:p>
            <a:endParaRPr lang="en-US"/>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4280" y="1705451"/>
            <a:ext cx="221099" cy="221099"/>
          </a:xfrm>
          <a:prstGeom prst="rect">
            <a:avLst/>
          </a:prstGeom>
        </p:spPr>
      </p:pic>
      <p:sp>
        <p:nvSpPr>
          <p:cNvPr id="6" name="Text 3"/>
          <p:cNvSpPr/>
          <p:nvPr/>
        </p:nvSpPr>
        <p:spPr>
          <a:xfrm>
            <a:off x="1383387" y="1617940"/>
            <a:ext cx="1960364" cy="230386"/>
          </a:xfrm>
          <a:prstGeom prst="rect">
            <a:avLst/>
          </a:prstGeom>
          <a:noFill/>
          <a:ln/>
        </p:spPr>
        <p:txBody>
          <a:bodyPr wrap="none" lIns="0" tIns="0" rIns="0" bIns="0" rtlCol="0" anchor="t"/>
          <a:lstStyle/>
          <a:p>
            <a:pPr marL="0" indent="0" algn="l">
              <a:lnSpc>
                <a:spcPts val="1800"/>
              </a:lnSpc>
              <a:buNone/>
            </a:pPr>
            <a:r>
              <a:rPr lang="en-US" sz="1450" dirty="0">
                <a:solidFill>
                  <a:srgbClr val="3C3939"/>
                </a:solidFill>
                <a:latin typeface="Raleway" pitchFamily="34" charset="0"/>
                <a:ea typeface="Raleway" pitchFamily="34" charset="-122"/>
                <a:cs typeface="Raleway" pitchFamily="34" charset="-120"/>
              </a:rPr>
              <a:t>Extract Key Data Points</a:t>
            </a:r>
            <a:endParaRPr lang="en-US" sz="1450" dirty="0"/>
          </a:p>
        </p:txBody>
      </p:sp>
      <p:sp>
        <p:nvSpPr>
          <p:cNvPr id="7" name="Text 4"/>
          <p:cNvSpPr/>
          <p:nvPr/>
        </p:nvSpPr>
        <p:spPr>
          <a:xfrm>
            <a:off x="1383387" y="1936671"/>
            <a:ext cx="12453223" cy="235744"/>
          </a:xfrm>
          <a:prstGeom prst="rect">
            <a:avLst/>
          </a:prstGeom>
          <a:noFill/>
          <a:ln/>
        </p:spPr>
        <p:txBody>
          <a:bodyPr wrap="none" lIns="0" tIns="0" rIns="0" bIns="0" rtlCol="0" anchor="t"/>
          <a:lstStyle/>
          <a:p>
            <a:pPr marL="0" indent="0" algn="l">
              <a:lnSpc>
                <a:spcPts val="1850"/>
              </a:lnSpc>
              <a:buNone/>
            </a:pPr>
            <a:r>
              <a:rPr lang="en-US" sz="1150" dirty="0">
                <a:solidFill>
                  <a:srgbClr val="3C3939"/>
                </a:solidFill>
                <a:latin typeface="Roboto" pitchFamily="34" charset="0"/>
                <a:ea typeface="Roboto" pitchFamily="34" charset="-122"/>
                <a:cs typeface="Roboto" pitchFamily="34" charset="-120"/>
              </a:rPr>
              <a:t>Develop robust methods to accurately extract student names, cumulative GPAs, and individual subject grades from varied transcript types.</a:t>
            </a:r>
            <a:endParaRPr lang="en-US" sz="1150" dirty="0"/>
          </a:p>
        </p:txBody>
      </p:sp>
      <p:sp>
        <p:nvSpPr>
          <p:cNvPr id="8" name="Shape 5"/>
          <p:cNvSpPr/>
          <p:nvPr/>
        </p:nvSpPr>
        <p:spPr>
          <a:xfrm>
            <a:off x="1162288" y="2723555"/>
            <a:ext cx="147399" cy="663297"/>
          </a:xfrm>
          <a:prstGeom prst="roundRect">
            <a:avLst>
              <a:gd name="adj" fmla="val 42011"/>
            </a:avLst>
          </a:prstGeom>
          <a:solidFill>
            <a:srgbClr val="E1E1EA"/>
          </a:solidFill>
          <a:ln w="7620">
            <a:solidFill>
              <a:srgbClr val="C7C7D0"/>
            </a:solidFill>
            <a:prstDash val="solid"/>
          </a:ln>
        </p:spPr>
        <p:txBody>
          <a:bodyPr/>
          <a:lstStyle/>
          <a:p>
            <a:endParaRPr lang="en-US"/>
          </a:p>
        </p:txBody>
      </p:sp>
      <p:sp>
        <p:nvSpPr>
          <p:cNvPr id="9" name="Shape 6"/>
          <p:cNvSpPr/>
          <p:nvPr/>
        </p:nvSpPr>
        <p:spPr>
          <a:xfrm>
            <a:off x="1014889" y="2626757"/>
            <a:ext cx="442198" cy="442198"/>
          </a:xfrm>
          <a:prstGeom prst="roundRect">
            <a:avLst>
              <a:gd name="adj" fmla="val 103393"/>
            </a:avLst>
          </a:prstGeom>
          <a:solidFill>
            <a:srgbClr val="E1E1EA"/>
          </a:solidFill>
          <a:ln w="7620">
            <a:solidFill>
              <a:srgbClr val="C7C7D0"/>
            </a:solidFill>
            <a:prstDash val="solid"/>
          </a:ln>
        </p:spPr>
        <p:txBody>
          <a:bodyPr/>
          <a:lstStyle/>
          <a:p>
            <a:endParaRPr lang="en-US"/>
          </a:p>
        </p:txBody>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25379" y="2737366"/>
            <a:ext cx="221099" cy="221099"/>
          </a:xfrm>
          <a:prstGeom prst="rect">
            <a:avLst/>
          </a:prstGeom>
        </p:spPr>
      </p:pic>
      <p:sp>
        <p:nvSpPr>
          <p:cNvPr id="11" name="Text 7"/>
          <p:cNvSpPr/>
          <p:nvPr/>
        </p:nvSpPr>
        <p:spPr>
          <a:xfrm>
            <a:off x="1604486" y="2649855"/>
            <a:ext cx="1842968" cy="230386"/>
          </a:xfrm>
          <a:prstGeom prst="rect">
            <a:avLst/>
          </a:prstGeom>
          <a:noFill/>
          <a:ln/>
        </p:spPr>
        <p:txBody>
          <a:bodyPr wrap="none" lIns="0" tIns="0" rIns="0" bIns="0" rtlCol="0" anchor="t"/>
          <a:lstStyle/>
          <a:p>
            <a:pPr marL="0" indent="0" algn="l">
              <a:lnSpc>
                <a:spcPts val="1800"/>
              </a:lnSpc>
              <a:buNone/>
            </a:pPr>
            <a:r>
              <a:rPr lang="en-US" sz="1450" dirty="0">
                <a:solidFill>
                  <a:srgbClr val="3C3939"/>
                </a:solidFill>
                <a:latin typeface="Raleway" pitchFamily="34" charset="0"/>
                <a:ea typeface="Raleway" pitchFamily="34" charset="-122"/>
                <a:cs typeface="Raleway" pitchFamily="34" charset="-120"/>
              </a:rPr>
              <a:t>Handle Varied Inputs</a:t>
            </a:r>
            <a:endParaRPr lang="en-US" sz="1450" dirty="0"/>
          </a:p>
        </p:txBody>
      </p:sp>
      <p:sp>
        <p:nvSpPr>
          <p:cNvPr id="12" name="Text 8"/>
          <p:cNvSpPr/>
          <p:nvPr/>
        </p:nvSpPr>
        <p:spPr>
          <a:xfrm>
            <a:off x="1604486" y="2968585"/>
            <a:ext cx="12232124" cy="235744"/>
          </a:xfrm>
          <a:prstGeom prst="rect">
            <a:avLst/>
          </a:prstGeom>
          <a:noFill/>
          <a:ln/>
        </p:spPr>
        <p:txBody>
          <a:bodyPr wrap="none" lIns="0" tIns="0" rIns="0" bIns="0" rtlCol="0" anchor="t"/>
          <a:lstStyle/>
          <a:p>
            <a:pPr marL="0" indent="0" algn="l">
              <a:lnSpc>
                <a:spcPts val="1850"/>
              </a:lnSpc>
              <a:buNone/>
            </a:pPr>
            <a:r>
              <a:rPr lang="en-US" sz="1150" dirty="0">
                <a:solidFill>
                  <a:srgbClr val="3C3939"/>
                </a:solidFill>
                <a:latin typeface="Roboto" pitchFamily="34" charset="0"/>
                <a:ea typeface="Roboto" pitchFamily="34" charset="-122"/>
                <a:cs typeface="Roboto" pitchFamily="34" charset="-120"/>
              </a:rPr>
              <a:t>Ensure compatibility with diverse source materials, from clean PDFs to scanned documents and even less-than-perfect mobile photographs.</a:t>
            </a:r>
            <a:endParaRPr lang="en-US" sz="1150" dirty="0"/>
          </a:p>
        </p:txBody>
      </p:sp>
      <p:sp>
        <p:nvSpPr>
          <p:cNvPr id="13" name="Shape 9"/>
          <p:cNvSpPr/>
          <p:nvPr/>
        </p:nvSpPr>
        <p:spPr>
          <a:xfrm>
            <a:off x="1383387" y="3755469"/>
            <a:ext cx="147399" cy="663297"/>
          </a:xfrm>
          <a:prstGeom prst="roundRect">
            <a:avLst>
              <a:gd name="adj" fmla="val 42011"/>
            </a:avLst>
          </a:prstGeom>
          <a:solidFill>
            <a:srgbClr val="E1E1EA"/>
          </a:solidFill>
          <a:ln w="7620">
            <a:solidFill>
              <a:srgbClr val="C7C7D0"/>
            </a:solidFill>
            <a:prstDash val="solid"/>
          </a:ln>
        </p:spPr>
        <p:txBody>
          <a:bodyPr/>
          <a:lstStyle/>
          <a:p>
            <a:endParaRPr lang="en-US"/>
          </a:p>
        </p:txBody>
      </p:sp>
      <p:sp>
        <p:nvSpPr>
          <p:cNvPr id="14" name="Shape 10"/>
          <p:cNvSpPr/>
          <p:nvPr/>
        </p:nvSpPr>
        <p:spPr>
          <a:xfrm>
            <a:off x="1235988" y="3658672"/>
            <a:ext cx="442198" cy="442198"/>
          </a:xfrm>
          <a:prstGeom prst="roundRect">
            <a:avLst>
              <a:gd name="adj" fmla="val 103393"/>
            </a:avLst>
          </a:prstGeom>
          <a:solidFill>
            <a:srgbClr val="E1E1EA"/>
          </a:solidFill>
          <a:ln w="7620">
            <a:solidFill>
              <a:srgbClr val="C7C7D0"/>
            </a:solidFill>
            <a:prstDash val="solid"/>
          </a:ln>
        </p:spPr>
        <p:txBody>
          <a:bodyPr/>
          <a:lstStyle/>
          <a:p>
            <a:endParaRPr lang="en-US"/>
          </a:p>
        </p:txBody>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46478" y="3769281"/>
            <a:ext cx="221099" cy="221099"/>
          </a:xfrm>
          <a:prstGeom prst="rect">
            <a:avLst/>
          </a:prstGeom>
        </p:spPr>
      </p:pic>
      <p:sp>
        <p:nvSpPr>
          <p:cNvPr id="16" name="Text 11"/>
          <p:cNvSpPr/>
          <p:nvPr/>
        </p:nvSpPr>
        <p:spPr>
          <a:xfrm>
            <a:off x="1825585" y="3681770"/>
            <a:ext cx="1894761" cy="230386"/>
          </a:xfrm>
          <a:prstGeom prst="rect">
            <a:avLst/>
          </a:prstGeom>
          <a:noFill/>
          <a:ln/>
        </p:spPr>
        <p:txBody>
          <a:bodyPr wrap="none" lIns="0" tIns="0" rIns="0" bIns="0" rtlCol="0" anchor="t"/>
          <a:lstStyle/>
          <a:p>
            <a:pPr marL="0" indent="0" algn="l">
              <a:lnSpc>
                <a:spcPts val="1800"/>
              </a:lnSpc>
              <a:buNone/>
            </a:pPr>
            <a:r>
              <a:rPr lang="en-US" sz="1450" dirty="0">
                <a:solidFill>
                  <a:srgbClr val="3C3939"/>
                </a:solidFill>
                <a:latin typeface="Raleway" pitchFamily="34" charset="0"/>
                <a:ea typeface="Raleway" pitchFamily="34" charset="-122"/>
                <a:cs typeface="Raleway" pitchFamily="34" charset="-120"/>
              </a:rPr>
              <a:t>Leverage LayoutLMv3</a:t>
            </a:r>
            <a:endParaRPr lang="en-US" sz="1450" dirty="0"/>
          </a:p>
        </p:txBody>
      </p:sp>
      <p:sp>
        <p:nvSpPr>
          <p:cNvPr id="17" name="Text 12"/>
          <p:cNvSpPr/>
          <p:nvPr/>
        </p:nvSpPr>
        <p:spPr>
          <a:xfrm>
            <a:off x="1825585" y="4000500"/>
            <a:ext cx="12011025" cy="235744"/>
          </a:xfrm>
          <a:prstGeom prst="rect">
            <a:avLst/>
          </a:prstGeom>
          <a:noFill/>
          <a:ln/>
        </p:spPr>
        <p:txBody>
          <a:bodyPr wrap="none" lIns="0" tIns="0" rIns="0" bIns="0" rtlCol="0" anchor="t"/>
          <a:lstStyle/>
          <a:p>
            <a:pPr marL="0" indent="0" algn="l">
              <a:lnSpc>
                <a:spcPts val="1850"/>
              </a:lnSpc>
              <a:buNone/>
            </a:pPr>
            <a:r>
              <a:rPr lang="en-US" sz="1150" dirty="0">
                <a:solidFill>
                  <a:srgbClr val="3C3939"/>
                </a:solidFill>
                <a:latin typeface="Roboto" pitchFamily="34" charset="0"/>
                <a:ea typeface="Roboto" pitchFamily="34" charset="-122"/>
                <a:cs typeface="Roboto" pitchFamily="34" charset="-120"/>
              </a:rPr>
              <a:t>Utilize and contribute to research by fine-tuning LayoutLMv3, a state-of-the-art deep learning model, for document understanding.</a:t>
            </a:r>
            <a:endParaRPr lang="en-US" sz="1150" dirty="0"/>
          </a:p>
        </p:txBody>
      </p:sp>
      <p:sp>
        <p:nvSpPr>
          <p:cNvPr id="18" name="Shape 13"/>
          <p:cNvSpPr/>
          <p:nvPr/>
        </p:nvSpPr>
        <p:spPr>
          <a:xfrm>
            <a:off x="1604605" y="4787384"/>
            <a:ext cx="147399" cy="663297"/>
          </a:xfrm>
          <a:prstGeom prst="roundRect">
            <a:avLst>
              <a:gd name="adj" fmla="val 42011"/>
            </a:avLst>
          </a:prstGeom>
          <a:solidFill>
            <a:srgbClr val="E1E1EA"/>
          </a:solidFill>
          <a:ln w="7620">
            <a:solidFill>
              <a:srgbClr val="C7C7D0"/>
            </a:solidFill>
            <a:prstDash val="solid"/>
          </a:ln>
        </p:spPr>
        <p:txBody>
          <a:bodyPr/>
          <a:lstStyle/>
          <a:p>
            <a:endParaRPr lang="en-US"/>
          </a:p>
        </p:txBody>
      </p:sp>
      <p:sp>
        <p:nvSpPr>
          <p:cNvPr id="19" name="Shape 14"/>
          <p:cNvSpPr/>
          <p:nvPr/>
        </p:nvSpPr>
        <p:spPr>
          <a:xfrm>
            <a:off x="1457206" y="4690586"/>
            <a:ext cx="442198" cy="442198"/>
          </a:xfrm>
          <a:prstGeom prst="roundRect">
            <a:avLst>
              <a:gd name="adj" fmla="val 103393"/>
            </a:avLst>
          </a:prstGeom>
          <a:solidFill>
            <a:srgbClr val="E1E1EA"/>
          </a:solidFill>
          <a:ln w="7620">
            <a:solidFill>
              <a:srgbClr val="C7C7D0"/>
            </a:solidFill>
            <a:prstDash val="solid"/>
          </a:ln>
        </p:spPr>
        <p:txBody>
          <a:bodyPr/>
          <a:lstStyle/>
          <a:p>
            <a:endParaRPr lang="en-US"/>
          </a:p>
        </p:txBody>
      </p:sp>
      <p:pic>
        <p:nvPicPr>
          <p:cNvPr id="20"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567696" y="4801195"/>
            <a:ext cx="221099" cy="221099"/>
          </a:xfrm>
          <a:prstGeom prst="rect">
            <a:avLst/>
          </a:prstGeom>
        </p:spPr>
      </p:pic>
      <p:sp>
        <p:nvSpPr>
          <p:cNvPr id="21" name="Text 15"/>
          <p:cNvSpPr/>
          <p:nvPr/>
        </p:nvSpPr>
        <p:spPr>
          <a:xfrm>
            <a:off x="2046803" y="4713684"/>
            <a:ext cx="1876068" cy="230386"/>
          </a:xfrm>
          <a:prstGeom prst="rect">
            <a:avLst/>
          </a:prstGeom>
          <a:noFill/>
          <a:ln/>
        </p:spPr>
        <p:txBody>
          <a:bodyPr wrap="none" lIns="0" tIns="0" rIns="0" bIns="0" rtlCol="0" anchor="t"/>
          <a:lstStyle/>
          <a:p>
            <a:pPr marL="0" indent="0" algn="l">
              <a:lnSpc>
                <a:spcPts val="1800"/>
              </a:lnSpc>
              <a:buNone/>
            </a:pPr>
            <a:r>
              <a:rPr lang="en-US" sz="1450" dirty="0">
                <a:solidFill>
                  <a:srgbClr val="3C3939"/>
                </a:solidFill>
                <a:latin typeface="Raleway" pitchFamily="34" charset="0"/>
                <a:ea typeface="Raleway" pitchFamily="34" charset="-122"/>
                <a:cs typeface="Raleway" pitchFamily="34" charset="-120"/>
              </a:rPr>
              <a:t>Build Eligibility Engine</a:t>
            </a:r>
            <a:endParaRPr lang="en-US" sz="1450" dirty="0"/>
          </a:p>
        </p:txBody>
      </p:sp>
      <p:sp>
        <p:nvSpPr>
          <p:cNvPr id="22" name="Text 16"/>
          <p:cNvSpPr/>
          <p:nvPr/>
        </p:nvSpPr>
        <p:spPr>
          <a:xfrm>
            <a:off x="2046803" y="5032415"/>
            <a:ext cx="11789807" cy="235744"/>
          </a:xfrm>
          <a:prstGeom prst="rect">
            <a:avLst/>
          </a:prstGeom>
          <a:noFill/>
          <a:ln/>
        </p:spPr>
        <p:txBody>
          <a:bodyPr wrap="none" lIns="0" tIns="0" rIns="0" bIns="0" rtlCol="0" anchor="t"/>
          <a:lstStyle/>
          <a:p>
            <a:pPr marL="0" indent="0" algn="l">
              <a:lnSpc>
                <a:spcPts val="1850"/>
              </a:lnSpc>
              <a:buNone/>
            </a:pPr>
            <a:r>
              <a:rPr lang="en-US" sz="1150" dirty="0">
                <a:solidFill>
                  <a:srgbClr val="3C3939"/>
                </a:solidFill>
                <a:latin typeface="Roboto" pitchFamily="34" charset="0"/>
                <a:ea typeface="Roboto" pitchFamily="34" charset="-122"/>
                <a:cs typeface="Roboto" pitchFamily="34" charset="-120"/>
              </a:rPr>
              <a:t>Integrate an intelligent rule-based engine to assess program eligibility automatically based on extracted GPA and subject data.</a:t>
            </a:r>
            <a:endParaRPr lang="en-US" sz="1150" dirty="0"/>
          </a:p>
        </p:txBody>
      </p:sp>
      <p:sp>
        <p:nvSpPr>
          <p:cNvPr id="23" name="Shape 17"/>
          <p:cNvSpPr/>
          <p:nvPr/>
        </p:nvSpPr>
        <p:spPr>
          <a:xfrm>
            <a:off x="1383387" y="5819299"/>
            <a:ext cx="147399" cy="663297"/>
          </a:xfrm>
          <a:prstGeom prst="roundRect">
            <a:avLst>
              <a:gd name="adj" fmla="val 42011"/>
            </a:avLst>
          </a:prstGeom>
          <a:solidFill>
            <a:srgbClr val="E1E1EA"/>
          </a:solidFill>
          <a:ln w="7620">
            <a:solidFill>
              <a:srgbClr val="C7C7D0"/>
            </a:solidFill>
            <a:prstDash val="solid"/>
          </a:ln>
        </p:spPr>
        <p:txBody>
          <a:bodyPr/>
          <a:lstStyle/>
          <a:p>
            <a:endParaRPr lang="en-US"/>
          </a:p>
        </p:txBody>
      </p:sp>
      <p:sp>
        <p:nvSpPr>
          <p:cNvPr id="24" name="Shape 18"/>
          <p:cNvSpPr/>
          <p:nvPr/>
        </p:nvSpPr>
        <p:spPr>
          <a:xfrm>
            <a:off x="1235988" y="5722501"/>
            <a:ext cx="442198" cy="442198"/>
          </a:xfrm>
          <a:prstGeom prst="roundRect">
            <a:avLst>
              <a:gd name="adj" fmla="val 103393"/>
            </a:avLst>
          </a:prstGeom>
          <a:solidFill>
            <a:srgbClr val="E1E1EA"/>
          </a:solidFill>
          <a:ln w="7620">
            <a:solidFill>
              <a:srgbClr val="C7C7D0"/>
            </a:solidFill>
            <a:prstDash val="solid"/>
          </a:ln>
        </p:spPr>
        <p:txBody>
          <a:bodyPr/>
          <a:lstStyle/>
          <a:p>
            <a:endParaRPr lang="en-US"/>
          </a:p>
        </p:txBody>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346478" y="5833110"/>
            <a:ext cx="221099" cy="221099"/>
          </a:xfrm>
          <a:prstGeom prst="rect">
            <a:avLst/>
          </a:prstGeom>
        </p:spPr>
      </p:pic>
      <p:sp>
        <p:nvSpPr>
          <p:cNvPr id="26" name="Text 19"/>
          <p:cNvSpPr/>
          <p:nvPr/>
        </p:nvSpPr>
        <p:spPr>
          <a:xfrm>
            <a:off x="1825585" y="5745599"/>
            <a:ext cx="1842968" cy="230386"/>
          </a:xfrm>
          <a:prstGeom prst="rect">
            <a:avLst/>
          </a:prstGeom>
          <a:noFill/>
          <a:ln/>
        </p:spPr>
        <p:txBody>
          <a:bodyPr wrap="none" lIns="0" tIns="0" rIns="0" bIns="0" rtlCol="0" anchor="t"/>
          <a:lstStyle/>
          <a:p>
            <a:pPr marL="0" indent="0" algn="l">
              <a:lnSpc>
                <a:spcPts val="1800"/>
              </a:lnSpc>
              <a:buNone/>
            </a:pPr>
            <a:r>
              <a:rPr lang="en-US" sz="1450" dirty="0">
                <a:solidFill>
                  <a:srgbClr val="3C3939"/>
                </a:solidFill>
                <a:latin typeface="Raleway" pitchFamily="34" charset="0"/>
                <a:ea typeface="Raleway" pitchFamily="34" charset="-122"/>
                <a:cs typeface="Raleway" pitchFamily="34" charset="-120"/>
              </a:rPr>
              <a:t>Deliver Intuitive UI</a:t>
            </a:r>
            <a:endParaRPr lang="en-US" sz="1450" dirty="0"/>
          </a:p>
        </p:txBody>
      </p:sp>
      <p:sp>
        <p:nvSpPr>
          <p:cNvPr id="27" name="Text 20"/>
          <p:cNvSpPr/>
          <p:nvPr/>
        </p:nvSpPr>
        <p:spPr>
          <a:xfrm>
            <a:off x="1825585" y="6064329"/>
            <a:ext cx="12011025" cy="235744"/>
          </a:xfrm>
          <a:prstGeom prst="rect">
            <a:avLst/>
          </a:prstGeom>
          <a:noFill/>
          <a:ln/>
        </p:spPr>
        <p:txBody>
          <a:bodyPr wrap="none" lIns="0" tIns="0" rIns="0" bIns="0" rtlCol="0" anchor="t"/>
          <a:lstStyle/>
          <a:p>
            <a:pPr marL="0" indent="0" algn="l">
              <a:lnSpc>
                <a:spcPts val="1850"/>
              </a:lnSpc>
              <a:buNone/>
            </a:pPr>
            <a:r>
              <a:rPr lang="en-US" sz="1150" dirty="0">
                <a:solidFill>
                  <a:srgbClr val="3C3939"/>
                </a:solidFill>
                <a:latin typeface="Roboto" pitchFamily="34" charset="0"/>
                <a:ea typeface="Roboto" pitchFamily="34" charset="-122"/>
                <a:cs typeface="Roboto" pitchFamily="34" charset="-120"/>
              </a:rPr>
              <a:t>Create a functional and user-friendly interface tailored for admissions teams, streamlining their workflow and decision-making.</a:t>
            </a:r>
            <a:endParaRPr lang="en-US" sz="1150" dirty="0"/>
          </a:p>
        </p:txBody>
      </p:sp>
      <p:sp>
        <p:nvSpPr>
          <p:cNvPr id="28" name="Shape 21"/>
          <p:cNvSpPr/>
          <p:nvPr/>
        </p:nvSpPr>
        <p:spPr>
          <a:xfrm>
            <a:off x="1162288" y="6851213"/>
            <a:ext cx="147399" cy="663297"/>
          </a:xfrm>
          <a:prstGeom prst="roundRect">
            <a:avLst>
              <a:gd name="adj" fmla="val 42011"/>
            </a:avLst>
          </a:prstGeom>
          <a:solidFill>
            <a:srgbClr val="E1E1EA"/>
          </a:solidFill>
          <a:ln w="7620">
            <a:solidFill>
              <a:srgbClr val="C7C7D0"/>
            </a:solidFill>
            <a:prstDash val="solid"/>
          </a:ln>
        </p:spPr>
        <p:txBody>
          <a:bodyPr/>
          <a:lstStyle/>
          <a:p>
            <a:endParaRPr lang="en-US"/>
          </a:p>
        </p:txBody>
      </p:sp>
      <p:sp>
        <p:nvSpPr>
          <p:cNvPr id="29" name="Shape 22"/>
          <p:cNvSpPr/>
          <p:nvPr/>
        </p:nvSpPr>
        <p:spPr>
          <a:xfrm>
            <a:off x="1014889" y="6754416"/>
            <a:ext cx="442198" cy="442198"/>
          </a:xfrm>
          <a:prstGeom prst="roundRect">
            <a:avLst>
              <a:gd name="adj" fmla="val 103393"/>
            </a:avLst>
          </a:prstGeom>
          <a:solidFill>
            <a:srgbClr val="E1E1EA"/>
          </a:solidFill>
          <a:ln w="7620">
            <a:solidFill>
              <a:srgbClr val="C7C7D0"/>
            </a:solidFill>
            <a:prstDash val="solid"/>
          </a:ln>
        </p:spPr>
        <p:txBody>
          <a:bodyPr/>
          <a:lstStyle/>
          <a:p>
            <a:endParaRPr lang="en-US"/>
          </a:p>
        </p:txBody>
      </p:sp>
      <p:pic>
        <p:nvPicPr>
          <p:cNvPr id="30"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25379" y="6865025"/>
            <a:ext cx="221099" cy="221099"/>
          </a:xfrm>
          <a:prstGeom prst="rect">
            <a:avLst/>
          </a:prstGeom>
        </p:spPr>
      </p:pic>
      <p:sp>
        <p:nvSpPr>
          <p:cNvPr id="31" name="Text 23"/>
          <p:cNvSpPr/>
          <p:nvPr/>
        </p:nvSpPr>
        <p:spPr>
          <a:xfrm>
            <a:off x="1604486" y="6777514"/>
            <a:ext cx="2068473" cy="230386"/>
          </a:xfrm>
          <a:prstGeom prst="rect">
            <a:avLst/>
          </a:prstGeom>
          <a:noFill/>
          <a:ln/>
        </p:spPr>
        <p:txBody>
          <a:bodyPr wrap="none" lIns="0" tIns="0" rIns="0" bIns="0" rtlCol="0" anchor="t"/>
          <a:lstStyle/>
          <a:p>
            <a:pPr marL="0" indent="0" algn="l">
              <a:lnSpc>
                <a:spcPts val="1800"/>
              </a:lnSpc>
              <a:buNone/>
            </a:pPr>
            <a:r>
              <a:rPr lang="en-US" sz="1450" dirty="0">
                <a:solidFill>
                  <a:srgbClr val="3C3939"/>
                </a:solidFill>
                <a:latin typeface="Raleway" pitchFamily="34" charset="0"/>
                <a:ea typeface="Raleway" pitchFamily="34" charset="-122"/>
                <a:cs typeface="Raleway" pitchFamily="34" charset="-120"/>
              </a:rPr>
              <a:t>Generate Synthetic Data</a:t>
            </a:r>
            <a:endParaRPr lang="en-US" sz="1450" dirty="0"/>
          </a:p>
        </p:txBody>
      </p:sp>
      <p:sp>
        <p:nvSpPr>
          <p:cNvPr id="32" name="Text 24"/>
          <p:cNvSpPr/>
          <p:nvPr/>
        </p:nvSpPr>
        <p:spPr>
          <a:xfrm>
            <a:off x="1604486" y="7096244"/>
            <a:ext cx="12232124" cy="235744"/>
          </a:xfrm>
          <a:prstGeom prst="rect">
            <a:avLst/>
          </a:prstGeom>
          <a:noFill/>
          <a:ln/>
        </p:spPr>
        <p:txBody>
          <a:bodyPr wrap="none" lIns="0" tIns="0" rIns="0" bIns="0" rtlCol="0" anchor="t"/>
          <a:lstStyle/>
          <a:p>
            <a:pPr marL="0" indent="0" algn="l">
              <a:lnSpc>
                <a:spcPts val="1850"/>
              </a:lnSpc>
              <a:buNone/>
            </a:pPr>
            <a:r>
              <a:rPr lang="en-US" sz="1150" dirty="0">
                <a:solidFill>
                  <a:srgbClr val="3C3939"/>
                </a:solidFill>
                <a:latin typeface="Roboto" pitchFamily="34" charset="0"/>
                <a:ea typeface="Roboto" pitchFamily="34" charset="-122"/>
                <a:cs typeface="Roboto" pitchFamily="34" charset="-120"/>
              </a:rPr>
              <a:t>Address data scarcity by developing a generator for synthetic transcripts, crucial for training deep learning models effectively.</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634722"/>
            <a:ext cx="8895517" cy="531614"/>
          </a:xfrm>
          <a:prstGeom prst="rect">
            <a:avLst/>
          </a:prstGeom>
          <a:noFill/>
          <a:ln/>
        </p:spPr>
        <p:txBody>
          <a:bodyPr wrap="none" lIns="0" tIns="0" rIns="0" bIns="0" rtlCol="0" anchor="t"/>
          <a:lstStyle/>
          <a:p>
            <a:pPr marL="0" indent="0" algn="l">
              <a:lnSpc>
                <a:spcPts val="4150"/>
              </a:lnSpc>
              <a:buNone/>
            </a:pPr>
            <a:r>
              <a:rPr lang="en-US" sz="3300" dirty="0">
                <a:solidFill>
                  <a:srgbClr val="1B1B27"/>
                </a:solidFill>
                <a:latin typeface="Raleway" pitchFamily="34" charset="0"/>
                <a:ea typeface="Raleway" pitchFamily="34" charset="-122"/>
                <a:cs typeface="Raleway" pitchFamily="34" charset="-120"/>
              </a:rPr>
              <a:t>Navigating Data Scarcity: The Core Challenge</a:t>
            </a:r>
            <a:endParaRPr lang="en-US" sz="3300" dirty="0"/>
          </a:p>
        </p:txBody>
      </p:sp>
      <p:sp>
        <p:nvSpPr>
          <p:cNvPr id="3" name="Shape 1"/>
          <p:cNvSpPr/>
          <p:nvPr/>
        </p:nvSpPr>
        <p:spPr>
          <a:xfrm>
            <a:off x="793790" y="1612821"/>
            <a:ext cx="680442" cy="1320165"/>
          </a:xfrm>
          <a:prstGeom prst="roundRect">
            <a:avLst>
              <a:gd name="adj" fmla="val 360022"/>
            </a:avLst>
          </a:prstGeom>
          <a:solidFill>
            <a:srgbClr val="E1E1EA"/>
          </a:solidFill>
          <a:ln w="7620">
            <a:solidFill>
              <a:srgbClr val="C7C7D0"/>
            </a:solidFill>
            <a:prstDash val="solid"/>
          </a:ln>
        </p:spPr>
        <p:txBody>
          <a:bodyPr/>
          <a:lstStyle/>
          <a:p>
            <a:endParaRPr lang="en-US"/>
          </a:p>
        </p:txBody>
      </p:sp>
      <p:sp>
        <p:nvSpPr>
          <p:cNvPr id="4" name="Text 2"/>
          <p:cNvSpPr/>
          <p:nvPr/>
        </p:nvSpPr>
        <p:spPr>
          <a:xfrm>
            <a:off x="1006435" y="2113359"/>
            <a:ext cx="255151" cy="318968"/>
          </a:xfrm>
          <a:prstGeom prst="rect">
            <a:avLst/>
          </a:prstGeom>
          <a:noFill/>
          <a:ln/>
        </p:spPr>
        <p:txBody>
          <a:bodyPr wrap="none" lIns="0" tIns="0" rIns="0" bIns="0" rtlCol="0" anchor="t"/>
          <a:lstStyle/>
          <a:p>
            <a:pPr marL="0" indent="0" algn="l">
              <a:lnSpc>
                <a:spcPts val="2000"/>
              </a:lnSpc>
              <a:buNone/>
            </a:pPr>
            <a:r>
              <a:rPr lang="en-US" sz="2000" dirty="0">
                <a:solidFill>
                  <a:srgbClr val="3C3939"/>
                </a:solidFill>
                <a:latin typeface="Raleway" pitchFamily="34" charset="0"/>
                <a:ea typeface="Raleway" pitchFamily="34" charset="-122"/>
                <a:cs typeface="Raleway" pitchFamily="34" charset="-120"/>
              </a:rPr>
              <a:t>1</a:t>
            </a:r>
            <a:endParaRPr lang="en-US" sz="2000" dirty="0"/>
          </a:p>
        </p:txBody>
      </p:sp>
      <p:sp>
        <p:nvSpPr>
          <p:cNvPr id="5" name="Text 3"/>
          <p:cNvSpPr/>
          <p:nvPr/>
        </p:nvSpPr>
        <p:spPr>
          <a:xfrm>
            <a:off x="1644253" y="1782842"/>
            <a:ext cx="3085743" cy="265747"/>
          </a:xfrm>
          <a:prstGeom prst="rect">
            <a:avLst/>
          </a:prstGeom>
          <a:noFill/>
          <a:ln/>
        </p:spPr>
        <p:txBody>
          <a:bodyPr wrap="none" lIns="0" tIns="0" rIns="0" bIns="0" rtlCol="0" anchor="t"/>
          <a:lstStyle/>
          <a:p>
            <a:pPr marL="0" indent="0" algn="l">
              <a:lnSpc>
                <a:spcPts val="2050"/>
              </a:lnSpc>
              <a:buNone/>
            </a:pPr>
            <a:r>
              <a:rPr lang="en-US" sz="1650" dirty="0">
                <a:solidFill>
                  <a:srgbClr val="3C3939"/>
                </a:solidFill>
                <a:latin typeface="Raleway" pitchFamily="34" charset="0"/>
                <a:ea typeface="Raleway" pitchFamily="34" charset="-122"/>
                <a:cs typeface="Raleway" pitchFamily="34" charset="-120"/>
              </a:rPr>
              <a:t>FERPA Compliance Restrictions</a:t>
            </a:r>
            <a:endParaRPr lang="en-US" sz="1650" dirty="0"/>
          </a:p>
        </p:txBody>
      </p:sp>
      <p:sp>
        <p:nvSpPr>
          <p:cNvPr id="6" name="Text 4"/>
          <p:cNvSpPr/>
          <p:nvPr/>
        </p:nvSpPr>
        <p:spPr>
          <a:xfrm>
            <a:off x="1644253" y="2218611"/>
            <a:ext cx="6136243" cy="544354"/>
          </a:xfrm>
          <a:prstGeom prst="rect">
            <a:avLst/>
          </a:prstGeom>
          <a:noFill/>
          <a:ln/>
        </p:spPr>
        <p:txBody>
          <a:bodyPr wrap="square" lIns="0" tIns="0" rIns="0" bIns="0" rtlCol="0" anchor="t"/>
          <a:lstStyle/>
          <a:p>
            <a:pPr marL="0" indent="0" algn="l">
              <a:lnSpc>
                <a:spcPts val="2100"/>
              </a:lnSpc>
              <a:buNone/>
            </a:pPr>
            <a:r>
              <a:rPr lang="en-US" sz="1300" dirty="0">
                <a:solidFill>
                  <a:srgbClr val="3C3939"/>
                </a:solidFill>
                <a:latin typeface="Roboto" pitchFamily="34" charset="0"/>
                <a:ea typeface="Roboto" pitchFamily="34" charset="-122"/>
                <a:cs typeface="Roboto" pitchFamily="34" charset="-120"/>
              </a:rPr>
              <a:t>Due to stringent FERPA regulations, publicly available, annotated transcript datasets are non-existent, posing a significant hurdle for ML research.</a:t>
            </a:r>
            <a:endParaRPr lang="en-US" sz="1300" dirty="0"/>
          </a:p>
        </p:txBody>
      </p:sp>
      <p:sp>
        <p:nvSpPr>
          <p:cNvPr id="7" name="Shape 5"/>
          <p:cNvSpPr/>
          <p:nvPr/>
        </p:nvSpPr>
        <p:spPr>
          <a:xfrm>
            <a:off x="793790" y="3103007"/>
            <a:ext cx="680442" cy="1320165"/>
          </a:xfrm>
          <a:prstGeom prst="roundRect">
            <a:avLst>
              <a:gd name="adj" fmla="val 360022"/>
            </a:avLst>
          </a:prstGeom>
          <a:solidFill>
            <a:srgbClr val="E1E1EA"/>
          </a:solidFill>
          <a:ln w="7620">
            <a:solidFill>
              <a:srgbClr val="C7C7D0"/>
            </a:solidFill>
            <a:prstDash val="solid"/>
          </a:ln>
        </p:spPr>
        <p:txBody>
          <a:bodyPr/>
          <a:lstStyle/>
          <a:p>
            <a:endParaRPr lang="en-US"/>
          </a:p>
        </p:txBody>
      </p:sp>
      <p:sp>
        <p:nvSpPr>
          <p:cNvPr id="8" name="Text 6"/>
          <p:cNvSpPr/>
          <p:nvPr/>
        </p:nvSpPr>
        <p:spPr>
          <a:xfrm>
            <a:off x="1006435" y="3603546"/>
            <a:ext cx="255151" cy="318968"/>
          </a:xfrm>
          <a:prstGeom prst="rect">
            <a:avLst/>
          </a:prstGeom>
          <a:noFill/>
          <a:ln/>
        </p:spPr>
        <p:txBody>
          <a:bodyPr wrap="none" lIns="0" tIns="0" rIns="0" bIns="0" rtlCol="0" anchor="t"/>
          <a:lstStyle/>
          <a:p>
            <a:pPr marL="0" indent="0" algn="l">
              <a:lnSpc>
                <a:spcPts val="2000"/>
              </a:lnSpc>
              <a:buNone/>
            </a:pPr>
            <a:r>
              <a:rPr lang="en-US" sz="2000" dirty="0">
                <a:solidFill>
                  <a:srgbClr val="3C3939"/>
                </a:solidFill>
                <a:latin typeface="Raleway" pitchFamily="34" charset="0"/>
                <a:ea typeface="Raleway" pitchFamily="34" charset="-122"/>
                <a:cs typeface="Raleway" pitchFamily="34" charset="-120"/>
              </a:rPr>
              <a:t>2</a:t>
            </a:r>
            <a:endParaRPr lang="en-US" sz="2000" dirty="0"/>
          </a:p>
        </p:txBody>
      </p:sp>
      <p:sp>
        <p:nvSpPr>
          <p:cNvPr id="9" name="Text 7"/>
          <p:cNvSpPr/>
          <p:nvPr/>
        </p:nvSpPr>
        <p:spPr>
          <a:xfrm>
            <a:off x="1644253" y="3273028"/>
            <a:ext cx="2321719" cy="265747"/>
          </a:xfrm>
          <a:prstGeom prst="rect">
            <a:avLst/>
          </a:prstGeom>
          <a:noFill/>
          <a:ln/>
        </p:spPr>
        <p:txBody>
          <a:bodyPr wrap="none" lIns="0" tIns="0" rIns="0" bIns="0" rtlCol="0" anchor="t"/>
          <a:lstStyle/>
          <a:p>
            <a:pPr marL="0" indent="0" algn="l">
              <a:lnSpc>
                <a:spcPts val="2050"/>
              </a:lnSpc>
              <a:buNone/>
            </a:pPr>
            <a:r>
              <a:rPr lang="en-US" sz="1650" dirty="0">
                <a:solidFill>
                  <a:srgbClr val="3C3939"/>
                </a:solidFill>
                <a:latin typeface="Raleway" pitchFamily="34" charset="0"/>
                <a:ea typeface="Raleway" pitchFamily="34" charset="-122"/>
                <a:cs typeface="Raleway" pitchFamily="34" charset="-120"/>
              </a:rPr>
              <a:t>Limited Annotated Data</a:t>
            </a:r>
            <a:endParaRPr lang="en-US" sz="1650" dirty="0"/>
          </a:p>
        </p:txBody>
      </p:sp>
      <p:sp>
        <p:nvSpPr>
          <p:cNvPr id="10" name="Text 8"/>
          <p:cNvSpPr/>
          <p:nvPr/>
        </p:nvSpPr>
        <p:spPr>
          <a:xfrm>
            <a:off x="1644253" y="3708797"/>
            <a:ext cx="6136243" cy="544354"/>
          </a:xfrm>
          <a:prstGeom prst="rect">
            <a:avLst/>
          </a:prstGeom>
          <a:noFill/>
          <a:ln/>
        </p:spPr>
        <p:txBody>
          <a:bodyPr wrap="square" lIns="0" tIns="0" rIns="0" bIns="0" rtlCol="0" anchor="t"/>
          <a:lstStyle/>
          <a:p>
            <a:pPr marL="0" indent="0" algn="l">
              <a:lnSpc>
                <a:spcPts val="2100"/>
              </a:lnSpc>
              <a:buNone/>
            </a:pPr>
            <a:r>
              <a:rPr lang="en-US" sz="1300" dirty="0">
                <a:solidFill>
                  <a:srgbClr val="3C3939"/>
                </a:solidFill>
                <a:latin typeface="Roboto" pitchFamily="34" charset="0"/>
                <a:ea typeface="Roboto" pitchFamily="34" charset="-122"/>
                <a:cs typeface="Roboto" pitchFamily="34" charset="-120"/>
              </a:rPr>
              <a:t>Our initial dataset comprised a mere nine manually annotated pages, a minuscule amount for effective deep learning model training.</a:t>
            </a:r>
            <a:endParaRPr lang="en-US" sz="1300" dirty="0"/>
          </a:p>
        </p:txBody>
      </p:sp>
      <p:sp>
        <p:nvSpPr>
          <p:cNvPr id="11" name="Shape 9"/>
          <p:cNvSpPr/>
          <p:nvPr/>
        </p:nvSpPr>
        <p:spPr>
          <a:xfrm>
            <a:off x="793790" y="4593193"/>
            <a:ext cx="680442" cy="1320165"/>
          </a:xfrm>
          <a:prstGeom prst="roundRect">
            <a:avLst>
              <a:gd name="adj" fmla="val 360022"/>
            </a:avLst>
          </a:prstGeom>
          <a:solidFill>
            <a:srgbClr val="E1E1EA"/>
          </a:solidFill>
          <a:ln w="7620">
            <a:solidFill>
              <a:srgbClr val="C7C7D0"/>
            </a:solidFill>
            <a:prstDash val="solid"/>
          </a:ln>
        </p:spPr>
        <p:txBody>
          <a:bodyPr/>
          <a:lstStyle/>
          <a:p>
            <a:endParaRPr lang="en-US"/>
          </a:p>
        </p:txBody>
      </p:sp>
      <p:sp>
        <p:nvSpPr>
          <p:cNvPr id="12" name="Text 10"/>
          <p:cNvSpPr/>
          <p:nvPr/>
        </p:nvSpPr>
        <p:spPr>
          <a:xfrm>
            <a:off x="1006435" y="5093732"/>
            <a:ext cx="255151" cy="318968"/>
          </a:xfrm>
          <a:prstGeom prst="rect">
            <a:avLst/>
          </a:prstGeom>
          <a:noFill/>
          <a:ln/>
        </p:spPr>
        <p:txBody>
          <a:bodyPr wrap="none" lIns="0" tIns="0" rIns="0" bIns="0" rtlCol="0" anchor="t"/>
          <a:lstStyle/>
          <a:p>
            <a:pPr marL="0" indent="0" algn="l">
              <a:lnSpc>
                <a:spcPts val="2000"/>
              </a:lnSpc>
              <a:buNone/>
            </a:pPr>
            <a:r>
              <a:rPr lang="en-US" sz="2000" dirty="0">
                <a:solidFill>
                  <a:srgbClr val="3C3939"/>
                </a:solidFill>
                <a:latin typeface="Raleway" pitchFamily="34" charset="0"/>
                <a:ea typeface="Raleway" pitchFamily="34" charset="-122"/>
                <a:cs typeface="Raleway" pitchFamily="34" charset="-120"/>
              </a:rPr>
              <a:t>3</a:t>
            </a:r>
            <a:endParaRPr lang="en-US" sz="2000" dirty="0"/>
          </a:p>
        </p:txBody>
      </p:sp>
      <p:sp>
        <p:nvSpPr>
          <p:cNvPr id="13" name="Text 11"/>
          <p:cNvSpPr/>
          <p:nvPr/>
        </p:nvSpPr>
        <p:spPr>
          <a:xfrm>
            <a:off x="1644253" y="4763214"/>
            <a:ext cx="2126456" cy="265747"/>
          </a:xfrm>
          <a:prstGeom prst="rect">
            <a:avLst/>
          </a:prstGeom>
          <a:noFill/>
          <a:ln/>
        </p:spPr>
        <p:txBody>
          <a:bodyPr wrap="none" lIns="0" tIns="0" rIns="0" bIns="0" rtlCol="0" anchor="t"/>
          <a:lstStyle/>
          <a:p>
            <a:pPr marL="0" indent="0" algn="l">
              <a:lnSpc>
                <a:spcPts val="2050"/>
              </a:lnSpc>
              <a:buNone/>
            </a:pPr>
            <a:r>
              <a:rPr lang="en-US" sz="1650" dirty="0">
                <a:solidFill>
                  <a:srgbClr val="3C3939"/>
                </a:solidFill>
                <a:latin typeface="Raleway" pitchFamily="34" charset="0"/>
                <a:ea typeface="Raleway" pitchFamily="34" charset="-122"/>
                <a:cs typeface="Raleway" pitchFamily="34" charset="-120"/>
              </a:rPr>
              <a:t>Sparse GPA Samples</a:t>
            </a:r>
            <a:endParaRPr lang="en-US" sz="1650" dirty="0"/>
          </a:p>
        </p:txBody>
      </p:sp>
      <p:sp>
        <p:nvSpPr>
          <p:cNvPr id="14" name="Text 12"/>
          <p:cNvSpPr/>
          <p:nvPr/>
        </p:nvSpPr>
        <p:spPr>
          <a:xfrm>
            <a:off x="1644253" y="5198983"/>
            <a:ext cx="6136243" cy="544354"/>
          </a:xfrm>
          <a:prstGeom prst="rect">
            <a:avLst/>
          </a:prstGeom>
          <a:noFill/>
          <a:ln/>
        </p:spPr>
        <p:txBody>
          <a:bodyPr wrap="square" lIns="0" tIns="0" rIns="0" bIns="0" rtlCol="0" anchor="t"/>
          <a:lstStyle/>
          <a:p>
            <a:pPr marL="0" indent="0" algn="l">
              <a:lnSpc>
                <a:spcPts val="2100"/>
              </a:lnSpc>
              <a:buNone/>
            </a:pPr>
            <a:r>
              <a:rPr lang="en-US" sz="1300" dirty="0">
                <a:solidFill>
                  <a:srgbClr val="3C3939"/>
                </a:solidFill>
                <a:latin typeface="Roboto" pitchFamily="34" charset="0"/>
                <a:ea typeface="Roboto" pitchFamily="34" charset="-122"/>
                <a:cs typeface="Roboto" pitchFamily="34" charset="-120"/>
              </a:rPr>
              <a:t>Critical GPA information appeared on only three of the nine available pages, severely limiting data for GPA-specific model training.</a:t>
            </a:r>
            <a:endParaRPr lang="en-US" sz="1300" dirty="0"/>
          </a:p>
        </p:txBody>
      </p:sp>
      <p:sp>
        <p:nvSpPr>
          <p:cNvPr id="15" name="Shape 13"/>
          <p:cNvSpPr/>
          <p:nvPr/>
        </p:nvSpPr>
        <p:spPr>
          <a:xfrm>
            <a:off x="793790" y="6083379"/>
            <a:ext cx="680442" cy="1320165"/>
          </a:xfrm>
          <a:prstGeom prst="roundRect">
            <a:avLst>
              <a:gd name="adj" fmla="val 360022"/>
            </a:avLst>
          </a:prstGeom>
          <a:solidFill>
            <a:srgbClr val="E1E1EA"/>
          </a:solidFill>
          <a:ln w="7620">
            <a:solidFill>
              <a:srgbClr val="C7C7D0"/>
            </a:solidFill>
            <a:prstDash val="solid"/>
          </a:ln>
        </p:spPr>
        <p:txBody>
          <a:bodyPr/>
          <a:lstStyle/>
          <a:p>
            <a:endParaRPr lang="en-US"/>
          </a:p>
        </p:txBody>
      </p:sp>
      <p:sp>
        <p:nvSpPr>
          <p:cNvPr id="16" name="Text 14"/>
          <p:cNvSpPr/>
          <p:nvPr/>
        </p:nvSpPr>
        <p:spPr>
          <a:xfrm>
            <a:off x="1006435" y="6583918"/>
            <a:ext cx="255151" cy="318968"/>
          </a:xfrm>
          <a:prstGeom prst="rect">
            <a:avLst/>
          </a:prstGeom>
          <a:noFill/>
          <a:ln/>
        </p:spPr>
        <p:txBody>
          <a:bodyPr wrap="none" lIns="0" tIns="0" rIns="0" bIns="0" rtlCol="0" anchor="t"/>
          <a:lstStyle/>
          <a:p>
            <a:pPr marL="0" indent="0" algn="l">
              <a:lnSpc>
                <a:spcPts val="2000"/>
              </a:lnSpc>
              <a:buNone/>
            </a:pPr>
            <a:r>
              <a:rPr lang="en-US" sz="2000" dirty="0">
                <a:solidFill>
                  <a:srgbClr val="3C3939"/>
                </a:solidFill>
                <a:latin typeface="Raleway" pitchFamily="34" charset="0"/>
                <a:ea typeface="Raleway" pitchFamily="34" charset="-122"/>
                <a:cs typeface="Raleway" pitchFamily="34" charset="-120"/>
              </a:rPr>
              <a:t>4</a:t>
            </a:r>
            <a:endParaRPr lang="en-US" sz="2000" dirty="0"/>
          </a:p>
        </p:txBody>
      </p:sp>
      <p:sp>
        <p:nvSpPr>
          <p:cNvPr id="17" name="Text 15"/>
          <p:cNvSpPr/>
          <p:nvPr/>
        </p:nvSpPr>
        <p:spPr>
          <a:xfrm>
            <a:off x="1644253" y="6253401"/>
            <a:ext cx="2890837" cy="265747"/>
          </a:xfrm>
          <a:prstGeom prst="rect">
            <a:avLst/>
          </a:prstGeom>
          <a:noFill/>
          <a:ln/>
        </p:spPr>
        <p:txBody>
          <a:bodyPr wrap="none" lIns="0" tIns="0" rIns="0" bIns="0" rtlCol="0" anchor="t"/>
          <a:lstStyle/>
          <a:p>
            <a:pPr marL="0" indent="0" algn="l">
              <a:lnSpc>
                <a:spcPts val="2050"/>
              </a:lnSpc>
              <a:buNone/>
            </a:pPr>
            <a:r>
              <a:rPr lang="en-US" sz="1650" dirty="0">
                <a:solidFill>
                  <a:srgbClr val="3C3939"/>
                </a:solidFill>
                <a:latin typeface="Raleway" pitchFamily="34" charset="0"/>
                <a:ea typeface="Raleway" pitchFamily="34" charset="-122"/>
                <a:cs typeface="Raleway" pitchFamily="34" charset="-120"/>
              </a:rPr>
              <a:t>Deep Learning's Data Hunger</a:t>
            </a:r>
            <a:endParaRPr lang="en-US" sz="1650" dirty="0"/>
          </a:p>
        </p:txBody>
      </p:sp>
      <p:sp>
        <p:nvSpPr>
          <p:cNvPr id="18" name="Text 16"/>
          <p:cNvSpPr/>
          <p:nvPr/>
        </p:nvSpPr>
        <p:spPr>
          <a:xfrm>
            <a:off x="1644253" y="6689169"/>
            <a:ext cx="6136243" cy="544354"/>
          </a:xfrm>
          <a:prstGeom prst="rect">
            <a:avLst/>
          </a:prstGeom>
          <a:noFill/>
          <a:ln/>
        </p:spPr>
        <p:txBody>
          <a:bodyPr wrap="square" lIns="0" tIns="0" rIns="0" bIns="0" rtlCol="0" anchor="t"/>
          <a:lstStyle/>
          <a:p>
            <a:pPr marL="0" indent="0" algn="l">
              <a:lnSpc>
                <a:spcPts val="2100"/>
              </a:lnSpc>
              <a:buNone/>
            </a:pPr>
            <a:r>
              <a:rPr lang="en-US" sz="1300" dirty="0">
                <a:solidFill>
                  <a:srgbClr val="3C3939"/>
                </a:solidFill>
                <a:latin typeface="Roboto" pitchFamily="34" charset="0"/>
                <a:ea typeface="Roboto" pitchFamily="34" charset="-122"/>
                <a:cs typeface="Roboto" pitchFamily="34" charset="-120"/>
              </a:rPr>
              <a:t>Effective deep learning models demand vast, high-quality annotated datasets, a requirement we struggled to meet with real-world data.</a:t>
            </a:r>
            <a:endParaRPr lang="en-US" sz="1300" dirty="0"/>
          </a:p>
        </p:txBody>
      </p:sp>
      <p:sp>
        <p:nvSpPr>
          <p:cNvPr id="19" name="Shape 17"/>
          <p:cNvSpPr/>
          <p:nvPr/>
        </p:nvSpPr>
        <p:spPr>
          <a:xfrm>
            <a:off x="8203168" y="1612821"/>
            <a:ext cx="5640943" cy="1267063"/>
          </a:xfrm>
          <a:prstGeom prst="roundRect">
            <a:avLst>
              <a:gd name="adj" fmla="val 5639"/>
            </a:avLst>
          </a:prstGeom>
          <a:solidFill>
            <a:srgbClr val="D2D2E0"/>
          </a:solidFill>
          <a:ln/>
        </p:spPr>
        <p:txBody>
          <a:bodyPr/>
          <a:lstStyle/>
          <a:p>
            <a:endParaRPr lang="en-US"/>
          </a:p>
        </p:txBody>
      </p:sp>
      <p:pic>
        <p:nvPicPr>
          <p:cNvPr id="20" name="Image 0" descr="preencoded.png"/>
          <p:cNvPicPr>
            <a:picLocks noChangeAspect="1"/>
          </p:cNvPicPr>
          <p:nvPr/>
        </p:nvPicPr>
        <p:blipFill>
          <a:blip r:embed="rId3"/>
          <a:stretch>
            <a:fillRect/>
          </a:stretch>
        </p:blipFill>
        <p:spPr>
          <a:xfrm>
            <a:off x="8373189" y="1867019"/>
            <a:ext cx="212646" cy="170021"/>
          </a:xfrm>
          <a:prstGeom prst="rect">
            <a:avLst/>
          </a:prstGeom>
        </p:spPr>
      </p:pic>
      <p:sp>
        <p:nvSpPr>
          <p:cNvPr id="21" name="Text 18"/>
          <p:cNvSpPr/>
          <p:nvPr/>
        </p:nvSpPr>
        <p:spPr>
          <a:xfrm>
            <a:off x="8755856" y="1825347"/>
            <a:ext cx="4918234" cy="816531"/>
          </a:xfrm>
          <a:prstGeom prst="rect">
            <a:avLst/>
          </a:prstGeom>
          <a:noFill/>
          <a:ln/>
        </p:spPr>
        <p:txBody>
          <a:bodyPr wrap="square" lIns="0" tIns="0" rIns="0" bIns="0" rtlCol="0" anchor="t"/>
          <a:lstStyle/>
          <a:p>
            <a:pPr marL="0" indent="0" algn="l">
              <a:lnSpc>
                <a:spcPts val="2100"/>
              </a:lnSpc>
              <a:buNone/>
            </a:pPr>
            <a:r>
              <a:rPr lang="en-US" sz="1300" dirty="0">
                <a:solidFill>
                  <a:srgbClr val="000000"/>
                </a:solidFill>
                <a:latin typeface="Roboto" pitchFamily="34" charset="0"/>
                <a:ea typeface="Roboto" pitchFamily="34" charset="-122"/>
                <a:cs typeface="Roboto" pitchFamily="34" charset="-120"/>
              </a:rPr>
              <a:t>This scarcity of data underscored the need for innovative solutions like synthetic data generation to make deep learning viable for this project.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655207"/>
            <a:ext cx="7766685" cy="531614"/>
          </a:xfrm>
          <a:prstGeom prst="rect">
            <a:avLst/>
          </a:prstGeom>
          <a:noFill/>
          <a:ln/>
        </p:spPr>
        <p:txBody>
          <a:bodyPr wrap="none" lIns="0" tIns="0" rIns="0" bIns="0" rtlCol="0" anchor="t"/>
          <a:lstStyle/>
          <a:p>
            <a:pPr marL="0" indent="0" algn="l">
              <a:lnSpc>
                <a:spcPts val="4150"/>
              </a:lnSpc>
              <a:buNone/>
            </a:pPr>
            <a:r>
              <a:rPr lang="en-US" sz="3300" dirty="0">
                <a:solidFill>
                  <a:srgbClr val="1B1B27"/>
                </a:solidFill>
                <a:latin typeface="Raleway" pitchFamily="34" charset="0"/>
                <a:ea typeface="Raleway" pitchFamily="34" charset="-122"/>
                <a:cs typeface="Raleway" pitchFamily="34" charset="-120"/>
              </a:rPr>
              <a:t>Model Evolution: From Noise to Nuance</a:t>
            </a:r>
            <a:endParaRPr lang="en-US" sz="3300" dirty="0"/>
          </a:p>
        </p:txBody>
      </p:sp>
      <p:pic>
        <p:nvPicPr>
          <p:cNvPr id="3" name="Image 0" descr="preencoded.png"/>
          <p:cNvPicPr>
            <a:picLocks noChangeAspect="1"/>
          </p:cNvPicPr>
          <p:nvPr/>
        </p:nvPicPr>
        <p:blipFill>
          <a:blip r:embed="rId3"/>
          <a:stretch>
            <a:fillRect/>
          </a:stretch>
        </p:blipFill>
        <p:spPr>
          <a:xfrm>
            <a:off x="793790" y="2441972"/>
            <a:ext cx="850583" cy="1033105"/>
          </a:xfrm>
          <a:prstGeom prst="rect">
            <a:avLst/>
          </a:prstGeom>
        </p:spPr>
      </p:pic>
      <p:sp>
        <p:nvSpPr>
          <p:cNvPr id="4" name="Text 1"/>
          <p:cNvSpPr/>
          <p:nvPr/>
        </p:nvSpPr>
        <p:spPr>
          <a:xfrm>
            <a:off x="1814393" y="2611993"/>
            <a:ext cx="2968823" cy="318849"/>
          </a:xfrm>
          <a:prstGeom prst="rect">
            <a:avLst/>
          </a:prstGeom>
          <a:noFill/>
          <a:ln/>
        </p:spPr>
        <p:txBody>
          <a:bodyPr wrap="none" lIns="0" tIns="0" rIns="0" bIns="0" rtlCol="0" anchor="t"/>
          <a:lstStyle/>
          <a:p>
            <a:pPr marL="0" indent="0" algn="l">
              <a:lnSpc>
                <a:spcPts val="2500"/>
              </a:lnSpc>
              <a:buNone/>
            </a:pPr>
            <a:r>
              <a:rPr lang="en-US" sz="2000" dirty="0">
                <a:solidFill>
                  <a:srgbClr val="3C3939"/>
                </a:solidFill>
                <a:latin typeface="Raleway" pitchFamily="34" charset="0"/>
                <a:ea typeface="Raleway" pitchFamily="34" charset="-122"/>
                <a:cs typeface="Raleway" pitchFamily="34" charset="-120"/>
              </a:rPr>
              <a:t>1) OpenCV: Initial Attempt</a:t>
            </a:r>
            <a:endParaRPr lang="en-US" sz="2000" dirty="0"/>
          </a:p>
        </p:txBody>
      </p:sp>
      <p:sp>
        <p:nvSpPr>
          <p:cNvPr id="5" name="Text 2"/>
          <p:cNvSpPr/>
          <p:nvPr/>
        </p:nvSpPr>
        <p:spPr>
          <a:xfrm>
            <a:off x="1814393" y="3032879"/>
            <a:ext cx="12022217" cy="272177"/>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Roboto" pitchFamily="34" charset="0"/>
                <a:ea typeface="Roboto" pitchFamily="34" charset="-122"/>
                <a:cs typeface="Roboto" pitchFamily="34" charset="-120"/>
              </a:rPr>
              <a:t>Our first approach using OpenCV struggled significantly. It proved highly sensitive to image noise and structural variations, resulting in unreliable extractions.</a:t>
            </a:r>
            <a:endParaRPr lang="en-US" sz="1300" dirty="0"/>
          </a:p>
        </p:txBody>
      </p:sp>
      <p:pic>
        <p:nvPicPr>
          <p:cNvPr id="6" name="Image 1" descr="preencoded.png"/>
          <p:cNvPicPr>
            <a:picLocks noChangeAspect="1"/>
          </p:cNvPicPr>
          <p:nvPr/>
        </p:nvPicPr>
        <p:blipFill>
          <a:blip r:embed="rId4"/>
          <a:stretch>
            <a:fillRect/>
          </a:stretch>
        </p:blipFill>
        <p:spPr>
          <a:xfrm>
            <a:off x="793790" y="3475077"/>
            <a:ext cx="850583" cy="1033105"/>
          </a:xfrm>
          <a:prstGeom prst="rect">
            <a:avLst/>
          </a:prstGeom>
        </p:spPr>
      </p:pic>
      <p:sp>
        <p:nvSpPr>
          <p:cNvPr id="7" name="Text 3"/>
          <p:cNvSpPr/>
          <p:nvPr/>
        </p:nvSpPr>
        <p:spPr>
          <a:xfrm>
            <a:off x="1814393" y="3645098"/>
            <a:ext cx="3382328" cy="318849"/>
          </a:xfrm>
          <a:prstGeom prst="rect">
            <a:avLst/>
          </a:prstGeom>
          <a:noFill/>
          <a:ln/>
        </p:spPr>
        <p:txBody>
          <a:bodyPr wrap="none" lIns="0" tIns="0" rIns="0" bIns="0" rtlCol="0" anchor="t"/>
          <a:lstStyle/>
          <a:p>
            <a:pPr marL="0" indent="0" algn="l">
              <a:lnSpc>
                <a:spcPts val="2500"/>
              </a:lnSpc>
              <a:buNone/>
            </a:pPr>
            <a:r>
              <a:rPr lang="en-US" sz="2000" dirty="0">
                <a:solidFill>
                  <a:srgbClr val="3C3939"/>
                </a:solidFill>
                <a:latin typeface="Raleway" pitchFamily="34" charset="0"/>
                <a:ea typeface="Raleway" pitchFamily="34" charset="-122"/>
                <a:cs typeface="Raleway" pitchFamily="34" charset="-120"/>
              </a:rPr>
              <a:t>2) Donut: Improved Structure</a:t>
            </a:r>
            <a:endParaRPr lang="en-US" sz="2000" dirty="0"/>
          </a:p>
        </p:txBody>
      </p:sp>
      <p:sp>
        <p:nvSpPr>
          <p:cNvPr id="8" name="Text 4"/>
          <p:cNvSpPr/>
          <p:nvPr/>
        </p:nvSpPr>
        <p:spPr>
          <a:xfrm>
            <a:off x="1814393" y="4065984"/>
            <a:ext cx="12022217" cy="272177"/>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Roboto" pitchFamily="34" charset="0"/>
                <a:ea typeface="Roboto" pitchFamily="34" charset="-122"/>
                <a:cs typeface="Roboto" pitchFamily="34" charset="-120"/>
              </a:rPr>
              <a:t>Donut showed promise with better structural understanding but still failed to generalize across noisy photographic inputs, limiting its real-world applicability.</a:t>
            </a:r>
            <a:endParaRPr lang="en-US" sz="1300" dirty="0"/>
          </a:p>
        </p:txBody>
      </p:sp>
      <p:pic>
        <p:nvPicPr>
          <p:cNvPr id="9" name="Image 2" descr="preencoded.png"/>
          <p:cNvPicPr>
            <a:picLocks noChangeAspect="1"/>
          </p:cNvPicPr>
          <p:nvPr/>
        </p:nvPicPr>
        <p:blipFill>
          <a:blip r:embed="rId5"/>
          <a:stretch>
            <a:fillRect/>
          </a:stretch>
        </p:blipFill>
        <p:spPr>
          <a:xfrm>
            <a:off x="793790" y="4508183"/>
            <a:ext cx="850583" cy="1033105"/>
          </a:xfrm>
          <a:prstGeom prst="rect">
            <a:avLst/>
          </a:prstGeom>
        </p:spPr>
      </p:pic>
      <p:sp>
        <p:nvSpPr>
          <p:cNvPr id="10" name="Text 5"/>
          <p:cNvSpPr/>
          <p:nvPr/>
        </p:nvSpPr>
        <p:spPr>
          <a:xfrm>
            <a:off x="1814393" y="4678204"/>
            <a:ext cx="3722013" cy="318849"/>
          </a:xfrm>
          <a:prstGeom prst="rect">
            <a:avLst/>
          </a:prstGeom>
          <a:noFill/>
          <a:ln/>
        </p:spPr>
        <p:txBody>
          <a:bodyPr wrap="none" lIns="0" tIns="0" rIns="0" bIns="0" rtlCol="0" anchor="t"/>
          <a:lstStyle/>
          <a:p>
            <a:pPr marL="0" indent="0" algn="l">
              <a:lnSpc>
                <a:spcPts val="2500"/>
              </a:lnSpc>
              <a:buNone/>
            </a:pPr>
            <a:r>
              <a:rPr lang="en-US" sz="2000" dirty="0">
                <a:solidFill>
                  <a:srgbClr val="3C3939"/>
                </a:solidFill>
                <a:latin typeface="Raleway" pitchFamily="34" charset="0"/>
                <a:ea typeface="Raleway" pitchFamily="34" charset="-122"/>
                <a:cs typeface="Raleway" pitchFamily="34" charset="-120"/>
              </a:rPr>
              <a:t>3) LayoutLMv3: State-of-the-Art</a:t>
            </a:r>
            <a:endParaRPr lang="en-US" sz="2000" dirty="0"/>
          </a:p>
        </p:txBody>
      </p:sp>
      <p:sp>
        <p:nvSpPr>
          <p:cNvPr id="11" name="Text 6"/>
          <p:cNvSpPr/>
          <p:nvPr/>
        </p:nvSpPr>
        <p:spPr>
          <a:xfrm>
            <a:off x="1814393" y="5099090"/>
            <a:ext cx="12022217" cy="272177"/>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Roboto" pitchFamily="34" charset="0"/>
                <a:ea typeface="Roboto" pitchFamily="34" charset="-122"/>
                <a:cs typeface="Roboto" pitchFamily="34" charset="-120"/>
              </a:rPr>
              <a:t>LayoutLMv3 emerged as the most effective deep learning model, successfully extracting NAME and SUBJECT data even from complex layouts.</a:t>
            </a:r>
            <a:endParaRPr lang="en-US" sz="1300" dirty="0"/>
          </a:p>
        </p:txBody>
      </p:sp>
      <p:pic>
        <p:nvPicPr>
          <p:cNvPr id="12" name="Image 3" descr="preencoded.png"/>
          <p:cNvPicPr>
            <a:picLocks noChangeAspect="1"/>
          </p:cNvPicPr>
          <p:nvPr/>
        </p:nvPicPr>
        <p:blipFill>
          <a:blip r:embed="rId6"/>
          <a:stretch>
            <a:fillRect/>
          </a:stretch>
        </p:blipFill>
        <p:spPr>
          <a:xfrm>
            <a:off x="793790" y="5541288"/>
            <a:ext cx="850583" cy="1033105"/>
          </a:xfrm>
          <a:prstGeom prst="rect">
            <a:avLst/>
          </a:prstGeom>
        </p:spPr>
      </p:pic>
      <p:sp>
        <p:nvSpPr>
          <p:cNvPr id="13" name="Text 7"/>
          <p:cNvSpPr/>
          <p:nvPr/>
        </p:nvSpPr>
        <p:spPr>
          <a:xfrm>
            <a:off x="1814393" y="5711309"/>
            <a:ext cx="3049191" cy="318849"/>
          </a:xfrm>
          <a:prstGeom prst="rect">
            <a:avLst/>
          </a:prstGeom>
          <a:noFill/>
          <a:ln/>
        </p:spPr>
        <p:txBody>
          <a:bodyPr wrap="none" lIns="0" tIns="0" rIns="0" bIns="0" rtlCol="0" anchor="t"/>
          <a:lstStyle/>
          <a:p>
            <a:pPr marL="0" indent="0" algn="l">
              <a:lnSpc>
                <a:spcPts val="2500"/>
              </a:lnSpc>
              <a:buNone/>
            </a:pPr>
            <a:r>
              <a:rPr lang="en-US" sz="2000" dirty="0">
                <a:solidFill>
                  <a:srgbClr val="3C3939"/>
                </a:solidFill>
                <a:latin typeface="Raleway" pitchFamily="34" charset="0"/>
                <a:ea typeface="Raleway" pitchFamily="34" charset="-122"/>
                <a:cs typeface="Raleway" pitchFamily="34" charset="-120"/>
              </a:rPr>
              <a:t>GPA: Persistent Challenge</a:t>
            </a:r>
            <a:endParaRPr lang="en-US" sz="2000" dirty="0"/>
          </a:p>
        </p:txBody>
      </p:sp>
      <p:sp>
        <p:nvSpPr>
          <p:cNvPr id="14" name="Text 8"/>
          <p:cNvSpPr/>
          <p:nvPr/>
        </p:nvSpPr>
        <p:spPr>
          <a:xfrm>
            <a:off x="1814393" y="6132195"/>
            <a:ext cx="12022217" cy="272177"/>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Roboto" pitchFamily="34" charset="0"/>
                <a:ea typeface="Roboto" pitchFamily="34" charset="-122"/>
                <a:cs typeface="Roboto" pitchFamily="34" charset="-120"/>
              </a:rPr>
              <a:t>Despite LayoutLMv3's strengths, GPA extraction remained difficult due to the low sample count and OCR token mismatches, requiring further refinement.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829628"/>
            <a:ext cx="8517374" cy="602456"/>
          </a:xfrm>
          <a:prstGeom prst="rect">
            <a:avLst/>
          </a:prstGeom>
          <a:noFill/>
          <a:ln/>
        </p:spPr>
        <p:txBody>
          <a:bodyPr wrap="none" lIns="0" tIns="0" rIns="0" bIns="0" rtlCol="0" anchor="t"/>
          <a:lstStyle/>
          <a:p>
            <a:pPr marL="0" indent="0" algn="l">
              <a:lnSpc>
                <a:spcPts val="4700"/>
              </a:lnSpc>
              <a:buNone/>
            </a:pPr>
            <a:r>
              <a:rPr lang="en-US" sz="3750" dirty="0">
                <a:solidFill>
                  <a:srgbClr val="1B1B27"/>
                </a:solidFill>
                <a:latin typeface="Raleway" pitchFamily="34" charset="0"/>
                <a:ea typeface="Raleway" pitchFamily="34" charset="-122"/>
                <a:cs typeface="Raleway" pitchFamily="34" charset="-120"/>
              </a:rPr>
              <a:t>Precision Annotation with Label Studio</a:t>
            </a:r>
            <a:endParaRPr lang="en-US" sz="3750" dirty="0"/>
          </a:p>
        </p:txBody>
      </p:sp>
      <p:sp>
        <p:nvSpPr>
          <p:cNvPr id="3" name="Text 1"/>
          <p:cNvSpPr/>
          <p:nvPr/>
        </p:nvSpPr>
        <p:spPr>
          <a:xfrm>
            <a:off x="793790" y="1894761"/>
            <a:ext cx="7637502" cy="925116"/>
          </a:xfrm>
          <a:prstGeom prst="rect">
            <a:avLst/>
          </a:prstGeom>
          <a:noFill/>
          <a:ln/>
        </p:spPr>
        <p:txBody>
          <a:bodyPr wrap="square" lIns="0" tIns="0" rIns="0" bIns="0" rtlCol="0" anchor="t"/>
          <a:lstStyle/>
          <a:p>
            <a:pPr marL="0" indent="0" algn="l">
              <a:lnSpc>
                <a:spcPts val="2400"/>
              </a:lnSpc>
              <a:buNone/>
            </a:pPr>
            <a:r>
              <a:rPr lang="en-US" sz="1500" dirty="0">
                <a:solidFill>
                  <a:srgbClr val="3C3939"/>
                </a:solidFill>
                <a:latin typeface="Roboto" pitchFamily="34" charset="0"/>
                <a:ea typeface="Roboto" pitchFamily="34" charset="-122"/>
                <a:cs typeface="Roboto" pitchFamily="34" charset="-120"/>
              </a:rPr>
              <a:t>To fine-tune LayoutLMv3 for optimal performance, a meticulous annotation process was undertaken using Label Studio. This involved defining and labeling specific entities within the transcript documents:</a:t>
            </a:r>
            <a:endParaRPr lang="en-US" sz="1500" dirty="0"/>
          </a:p>
        </p:txBody>
      </p:sp>
      <p:sp>
        <p:nvSpPr>
          <p:cNvPr id="4" name="Shape 2"/>
          <p:cNvSpPr/>
          <p:nvPr/>
        </p:nvSpPr>
        <p:spPr>
          <a:xfrm>
            <a:off x="793790" y="3036689"/>
            <a:ext cx="433745" cy="433745"/>
          </a:xfrm>
          <a:prstGeom prst="roundRect">
            <a:avLst>
              <a:gd name="adj" fmla="val 18669"/>
            </a:avLst>
          </a:prstGeom>
          <a:solidFill>
            <a:srgbClr val="E1E1EA"/>
          </a:solidFill>
          <a:ln w="7620">
            <a:solidFill>
              <a:srgbClr val="C7C7D0"/>
            </a:solidFill>
            <a:prstDash val="solid"/>
          </a:ln>
        </p:spPr>
        <p:txBody>
          <a:bodyPr/>
          <a:lstStyle/>
          <a:p>
            <a:endParaRPr lang="en-US"/>
          </a:p>
        </p:txBody>
      </p:sp>
      <p:sp>
        <p:nvSpPr>
          <p:cNvPr id="5" name="Text 3"/>
          <p:cNvSpPr/>
          <p:nvPr/>
        </p:nvSpPr>
        <p:spPr>
          <a:xfrm>
            <a:off x="1420297" y="3102888"/>
            <a:ext cx="2409944" cy="301228"/>
          </a:xfrm>
          <a:prstGeom prst="rect">
            <a:avLst/>
          </a:prstGeom>
          <a:noFill/>
          <a:ln/>
        </p:spPr>
        <p:txBody>
          <a:bodyPr wrap="none" lIns="0" tIns="0" rIns="0" bIns="0" rtlCol="0" anchor="t"/>
          <a:lstStyle/>
          <a:p>
            <a:pPr marL="0" indent="0" algn="l">
              <a:lnSpc>
                <a:spcPts val="2350"/>
              </a:lnSpc>
              <a:buNone/>
            </a:pPr>
            <a:r>
              <a:rPr lang="en-US" sz="1850" dirty="0">
                <a:solidFill>
                  <a:srgbClr val="3C3939"/>
                </a:solidFill>
                <a:latin typeface="Raleway" pitchFamily="34" charset="0"/>
                <a:ea typeface="Raleway" pitchFamily="34" charset="-122"/>
                <a:cs typeface="Raleway" pitchFamily="34" charset="-120"/>
              </a:rPr>
              <a:t>B-NAME, I-NAME</a:t>
            </a:r>
            <a:endParaRPr lang="en-US" sz="1850" dirty="0"/>
          </a:p>
        </p:txBody>
      </p:sp>
      <p:sp>
        <p:nvSpPr>
          <p:cNvPr id="6" name="Text 4"/>
          <p:cNvSpPr/>
          <p:nvPr/>
        </p:nvSpPr>
        <p:spPr>
          <a:xfrm>
            <a:off x="1420297" y="3596878"/>
            <a:ext cx="3071693" cy="1233487"/>
          </a:xfrm>
          <a:prstGeom prst="rect">
            <a:avLst/>
          </a:prstGeom>
          <a:noFill/>
          <a:ln/>
        </p:spPr>
        <p:txBody>
          <a:bodyPr wrap="square" lIns="0" tIns="0" rIns="0" bIns="0" rtlCol="0" anchor="t"/>
          <a:lstStyle/>
          <a:p>
            <a:pPr marL="0" indent="0" algn="l">
              <a:lnSpc>
                <a:spcPts val="2400"/>
              </a:lnSpc>
              <a:buNone/>
            </a:pPr>
            <a:r>
              <a:rPr lang="en-US" sz="1500" dirty="0">
                <a:solidFill>
                  <a:srgbClr val="3C3939"/>
                </a:solidFill>
                <a:latin typeface="Roboto" pitchFamily="34" charset="0"/>
                <a:ea typeface="Roboto" pitchFamily="34" charset="-122"/>
                <a:cs typeface="Roboto" pitchFamily="34" charset="-120"/>
              </a:rPr>
              <a:t>Bounding boxes for the beginning and continuation tokens of a student's name, crucial for accurate identification.</a:t>
            </a:r>
            <a:endParaRPr lang="en-US" sz="1500" dirty="0"/>
          </a:p>
        </p:txBody>
      </p:sp>
      <p:sp>
        <p:nvSpPr>
          <p:cNvPr id="7" name="Shape 5"/>
          <p:cNvSpPr/>
          <p:nvPr/>
        </p:nvSpPr>
        <p:spPr>
          <a:xfrm>
            <a:off x="4732973" y="3036689"/>
            <a:ext cx="433745" cy="433745"/>
          </a:xfrm>
          <a:prstGeom prst="roundRect">
            <a:avLst>
              <a:gd name="adj" fmla="val 18669"/>
            </a:avLst>
          </a:prstGeom>
          <a:solidFill>
            <a:srgbClr val="E1E1EA"/>
          </a:solidFill>
          <a:ln w="7620">
            <a:solidFill>
              <a:srgbClr val="C7C7D0"/>
            </a:solidFill>
            <a:prstDash val="solid"/>
          </a:ln>
        </p:spPr>
        <p:txBody>
          <a:bodyPr/>
          <a:lstStyle/>
          <a:p>
            <a:endParaRPr lang="en-US"/>
          </a:p>
        </p:txBody>
      </p:sp>
      <p:sp>
        <p:nvSpPr>
          <p:cNvPr id="8" name="Text 6"/>
          <p:cNvSpPr/>
          <p:nvPr/>
        </p:nvSpPr>
        <p:spPr>
          <a:xfrm>
            <a:off x="5359479" y="3102888"/>
            <a:ext cx="2409944" cy="301228"/>
          </a:xfrm>
          <a:prstGeom prst="rect">
            <a:avLst/>
          </a:prstGeom>
          <a:noFill/>
          <a:ln/>
        </p:spPr>
        <p:txBody>
          <a:bodyPr wrap="none" lIns="0" tIns="0" rIns="0" bIns="0" rtlCol="0" anchor="t"/>
          <a:lstStyle/>
          <a:p>
            <a:pPr marL="0" indent="0" algn="l">
              <a:lnSpc>
                <a:spcPts val="2350"/>
              </a:lnSpc>
              <a:buNone/>
            </a:pPr>
            <a:r>
              <a:rPr lang="en-US" sz="1850" dirty="0">
                <a:solidFill>
                  <a:srgbClr val="3C3939"/>
                </a:solidFill>
                <a:latin typeface="Raleway" pitchFamily="34" charset="0"/>
                <a:ea typeface="Raleway" pitchFamily="34" charset="-122"/>
                <a:cs typeface="Raleway" pitchFamily="34" charset="-120"/>
              </a:rPr>
              <a:t>B-GPA, I-GPA</a:t>
            </a:r>
            <a:endParaRPr lang="en-US" sz="1850" dirty="0"/>
          </a:p>
        </p:txBody>
      </p:sp>
      <p:sp>
        <p:nvSpPr>
          <p:cNvPr id="9" name="Text 7"/>
          <p:cNvSpPr/>
          <p:nvPr/>
        </p:nvSpPr>
        <p:spPr>
          <a:xfrm>
            <a:off x="5359479" y="3596878"/>
            <a:ext cx="3071813" cy="1233487"/>
          </a:xfrm>
          <a:prstGeom prst="rect">
            <a:avLst/>
          </a:prstGeom>
          <a:noFill/>
          <a:ln/>
        </p:spPr>
        <p:txBody>
          <a:bodyPr wrap="square" lIns="0" tIns="0" rIns="0" bIns="0" rtlCol="0" anchor="t"/>
          <a:lstStyle/>
          <a:p>
            <a:pPr marL="0" indent="0" algn="l">
              <a:lnSpc>
                <a:spcPts val="2400"/>
              </a:lnSpc>
              <a:buNone/>
            </a:pPr>
            <a:r>
              <a:rPr lang="en-US" sz="1500" dirty="0">
                <a:solidFill>
                  <a:srgbClr val="3C3939"/>
                </a:solidFill>
                <a:latin typeface="Roboto" pitchFamily="34" charset="0"/>
                <a:ea typeface="Roboto" pitchFamily="34" charset="-122"/>
                <a:cs typeface="Roboto" pitchFamily="34" charset="-120"/>
              </a:rPr>
              <a:t>Annotations for the start and subsequent tokens of the Grade Point Average, targeting this key eligibility metric.</a:t>
            </a:r>
            <a:endParaRPr lang="en-US" sz="1500" dirty="0"/>
          </a:p>
        </p:txBody>
      </p:sp>
      <p:sp>
        <p:nvSpPr>
          <p:cNvPr id="10" name="Shape 8"/>
          <p:cNvSpPr/>
          <p:nvPr/>
        </p:nvSpPr>
        <p:spPr>
          <a:xfrm>
            <a:off x="793790" y="5215890"/>
            <a:ext cx="433745" cy="433745"/>
          </a:xfrm>
          <a:prstGeom prst="roundRect">
            <a:avLst>
              <a:gd name="adj" fmla="val 18669"/>
            </a:avLst>
          </a:prstGeom>
          <a:solidFill>
            <a:srgbClr val="E1E1EA"/>
          </a:solidFill>
          <a:ln w="7620">
            <a:solidFill>
              <a:srgbClr val="C7C7D0"/>
            </a:solidFill>
            <a:prstDash val="solid"/>
          </a:ln>
        </p:spPr>
        <p:txBody>
          <a:bodyPr/>
          <a:lstStyle/>
          <a:p>
            <a:endParaRPr lang="en-US"/>
          </a:p>
        </p:txBody>
      </p:sp>
      <p:sp>
        <p:nvSpPr>
          <p:cNvPr id="11" name="Text 9"/>
          <p:cNvSpPr/>
          <p:nvPr/>
        </p:nvSpPr>
        <p:spPr>
          <a:xfrm>
            <a:off x="1420297" y="5282089"/>
            <a:ext cx="2641402" cy="301228"/>
          </a:xfrm>
          <a:prstGeom prst="rect">
            <a:avLst/>
          </a:prstGeom>
          <a:noFill/>
          <a:ln/>
        </p:spPr>
        <p:txBody>
          <a:bodyPr wrap="none" lIns="0" tIns="0" rIns="0" bIns="0" rtlCol="0" anchor="t"/>
          <a:lstStyle/>
          <a:p>
            <a:pPr marL="0" indent="0" algn="l">
              <a:lnSpc>
                <a:spcPts val="2350"/>
              </a:lnSpc>
              <a:buNone/>
            </a:pPr>
            <a:r>
              <a:rPr lang="en-US" sz="1850" dirty="0">
                <a:solidFill>
                  <a:srgbClr val="3C3939"/>
                </a:solidFill>
                <a:latin typeface="Raleway" pitchFamily="34" charset="0"/>
                <a:ea typeface="Raleway" pitchFamily="34" charset="-122"/>
                <a:cs typeface="Raleway" pitchFamily="34" charset="-120"/>
              </a:rPr>
              <a:t>B-SUBJECT, I-SUBJECT</a:t>
            </a:r>
            <a:endParaRPr lang="en-US" sz="1850" dirty="0"/>
          </a:p>
        </p:txBody>
      </p:sp>
      <p:sp>
        <p:nvSpPr>
          <p:cNvPr id="12" name="Text 10"/>
          <p:cNvSpPr/>
          <p:nvPr/>
        </p:nvSpPr>
        <p:spPr>
          <a:xfrm>
            <a:off x="1420297" y="5776079"/>
            <a:ext cx="7010995" cy="616744"/>
          </a:xfrm>
          <a:prstGeom prst="rect">
            <a:avLst/>
          </a:prstGeom>
          <a:noFill/>
          <a:ln/>
        </p:spPr>
        <p:txBody>
          <a:bodyPr wrap="square" lIns="0" tIns="0" rIns="0" bIns="0" rtlCol="0" anchor="t"/>
          <a:lstStyle/>
          <a:p>
            <a:pPr marL="0" indent="0" algn="l">
              <a:lnSpc>
                <a:spcPts val="2400"/>
              </a:lnSpc>
              <a:buNone/>
            </a:pPr>
            <a:r>
              <a:rPr lang="en-US" sz="1500" dirty="0">
                <a:solidFill>
                  <a:srgbClr val="3C3939"/>
                </a:solidFill>
                <a:latin typeface="Roboto" pitchFamily="34" charset="0"/>
                <a:ea typeface="Roboto" pitchFamily="34" charset="-122"/>
                <a:cs typeface="Roboto" pitchFamily="34" charset="-120"/>
              </a:rPr>
              <a:t>Labels for the beginning and continuation of subject names, vital for course-specific analysis and program requirements.</a:t>
            </a:r>
            <a:endParaRPr lang="en-US" sz="1500" dirty="0"/>
          </a:p>
        </p:txBody>
      </p:sp>
      <p:sp>
        <p:nvSpPr>
          <p:cNvPr id="13" name="Text 11"/>
          <p:cNvSpPr/>
          <p:nvPr/>
        </p:nvSpPr>
        <p:spPr>
          <a:xfrm>
            <a:off x="793790" y="6609636"/>
            <a:ext cx="7637502" cy="616744"/>
          </a:xfrm>
          <a:prstGeom prst="rect">
            <a:avLst/>
          </a:prstGeom>
          <a:noFill/>
          <a:ln/>
        </p:spPr>
        <p:txBody>
          <a:bodyPr wrap="square" lIns="0" tIns="0" rIns="0" bIns="0" rtlCol="0" anchor="t"/>
          <a:lstStyle/>
          <a:p>
            <a:pPr marL="0" indent="0" algn="l">
              <a:lnSpc>
                <a:spcPts val="2400"/>
              </a:lnSpc>
              <a:buNone/>
            </a:pPr>
            <a:r>
              <a:rPr lang="en-US" sz="1500" dirty="0">
                <a:solidFill>
                  <a:srgbClr val="3C3939"/>
                </a:solidFill>
                <a:latin typeface="Roboto" pitchFamily="34" charset="0"/>
                <a:ea typeface="Roboto" pitchFamily="34" charset="-122"/>
                <a:cs typeface="Roboto" pitchFamily="34" charset="-120"/>
              </a:rPr>
              <a:t>These detailed annotations enabled LayoutLMv3 to learn the contextual and spatial relationships of information on a transcript.</a:t>
            </a:r>
            <a:endParaRPr lang="en-US" sz="1500" dirty="0"/>
          </a:p>
        </p:txBody>
      </p:sp>
      <p:sp>
        <p:nvSpPr>
          <p:cNvPr id="14" name="Text 12"/>
          <p:cNvSpPr/>
          <p:nvPr/>
        </p:nvSpPr>
        <p:spPr>
          <a:xfrm>
            <a:off x="8909209" y="1894761"/>
            <a:ext cx="4934903" cy="308372"/>
          </a:xfrm>
          <a:prstGeom prst="rect">
            <a:avLst/>
          </a:prstGeom>
          <a:noFill/>
          <a:ln/>
        </p:spPr>
        <p:txBody>
          <a:bodyPr wrap="none" lIns="0" tIns="0" rIns="0" bIns="0" rtlCol="0" anchor="t"/>
          <a:lstStyle/>
          <a:p>
            <a:pPr marL="0" indent="0" algn="l">
              <a:lnSpc>
                <a:spcPts val="2400"/>
              </a:lnSpc>
              <a:buNone/>
            </a:pP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37830" y="579715"/>
            <a:ext cx="7572137" cy="658773"/>
          </a:xfrm>
          <a:prstGeom prst="rect">
            <a:avLst/>
          </a:prstGeom>
          <a:noFill/>
          <a:ln/>
        </p:spPr>
        <p:txBody>
          <a:bodyPr wrap="none" lIns="0" tIns="0" rIns="0" bIns="0" rtlCol="0" anchor="t"/>
          <a:lstStyle/>
          <a:p>
            <a:pPr marL="0" indent="0" algn="l">
              <a:lnSpc>
                <a:spcPts val="5150"/>
              </a:lnSpc>
              <a:buNone/>
            </a:pPr>
            <a:r>
              <a:rPr lang="en-US" sz="4150" dirty="0">
                <a:solidFill>
                  <a:srgbClr val="1B1B27"/>
                </a:solidFill>
                <a:latin typeface="Raleway" pitchFamily="34" charset="0"/>
                <a:ea typeface="Raleway" pitchFamily="34" charset="-122"/>
                <a:cs typeface="Raleway" pitchFamily="34" charset="-120"/>
              </a:rPr>
              <a:t>Integrated System Architecture</a:t>
            </a:r>
            <a:endParaRPr lang="en-US" sz="4150" dirty="0"/>
          </a:p>
        </p:txBody>
      </p:sp>
      <p:pic>
        <p:nvPicPr>
          <p:cNvPr id="3" name="Image 0" descr="preencoded.png"/>
          <p:cNvPicPr>
            <a:picLocks noChangeAspect="1"/>
          </p:cNvPicPr>
          <p:nvPr/>
        </p:nvPicPr>
        <p:blipFill>
          <a:blip r:embed="rId3"/>
          <a:stretch>
            <a:fillRect/>
          </a:stretch>
        </p:blipFill>
        <p:spPr>
          <a:xfrm>
            <a:off x="792004" y="1554718"/>
            <a:ext cx="13046273" cy="5625822"/>
          </a:xfrm>
          <a:prstGeom prst="rect">
            <a:avLst/>
          </a:prstGeom>
        </p:spPr>
      </p:pic>
      <p:sp>
        <p:nvSpPr>
          <p:cNvPr id="4" name="Text 1"/>
          <p:cNvSpPr/>
          <p:nvPr/>
        </p:nvSpPr>
        <p:spPr>
          <a:xfrm>
            <a:off x="1669914" y="6113674"/>
            <a:ext cx="2959743" cy="369968"/>
          </a:xfrm>
          <a:prstGeom prst="rect">
            <a:avLst/>
          </a:prstGeom>
          <a:noFill/>
          <a:ln/>
        </p:spPr>
        <p:txBody>
          <a:bodyPr wrap="none" lIns="0" tIns="0" rIns="0" bIns="0" rtlCol="0" anchor="t"/>
          <a:lstStyle/>
          <a:p>
            <a:pPr marL="0" indent="0" algn="l">
              <a:lnSpc>
                <a:spcPts val="1650"/>
              </a:lnSpc>
              <a:buNone/>
            </a:pPr>
            <a:r>
              <a:rPr lang="en-US" sz="1350" dirty="0">
                <a:solidFill>
                  <a:srgbClr val="FFFFFF"/>
                </a:solidFill>
                <a:latin typeface="Raleway" pitchFamily="34" charset="0"/>
                <a:ea typeface="Raleway" pitchFamily="34" charset="-122"/>
                <a:cs typeface="Raleway" pitchFamily="34" charset="-120"/>
              </a:rPr>
              <a:t>Eligibility &amp; UI</a:t>
            </a:r>
            <a:endParaRPr lang="en-US" sz="1350" dirty="0"/>
          </a:p>
        </p:txBody>
      </p:sp>
      <p:sp>
        <p:nvSpPr>
          <p:cNvPr id="5" name="Text 2"/>
          <p:cNvSpPr/>
          <p:nvPr/>
        </p:nvSpPr>
        <p:spPr>
          <a:xfrm>
            <a:off x="1669914" y="4811387"/>
            <a:ext cx="2959743" cy="369968"/>
          </a:xfrm>
          <a:prstGeom prst="rect">
            <a:avLst/>
          </a:prstGeom>
          <a:noFill/>
          <a:ln/>
        </p:spPr>
        <p:txBody>
          <a:bodyPr wrap="none" lIns="0" tIns="0" rIns="0" bIns="0" rtlCol="0" anchor="t"/>
          <a:lstStyle/>
          <a:p>
            <a:pPr marL="0" indent="0" algn="l">
              <a:lnSpc>
                <a:spcPts val="1650"/>
              </a:lnSpc>
              <a:buNone/>
            </a:pPr>
            <a:r>
              <a:rPr lang="en-US" sz="1350" dirty="0">
                <a:solidFill>
                  <a:srgbClr val="FFFFFF"/>
                </a:solidFill>
                <a:latin typeface="Raleway" pitchFamily="34" charset="0"/>
                <a:ea typeface="Raleway" pitchFamily="34" charset="-122"/>
                <a:cs typeface="Raleway" pitchFamily="34" charset="-120"/>
              </a:rPr>
              <a:t>Data Extraction</a:t>
            </a:r>
            <a:endParaRPr lang="en-US" sz="1350" dirty="0"/>
          </a:p>
        </p:txBody>
      </p:sp>
      <p:sp>
        <p:nvSpPr>
          <p:cNvPr id="6" name="Text 3"/>
          <p:cNvSpPr/>
          <p:nvPr/>
        </p:nvSpPr>
        <p:spPr>
          <a:xfrm>
            <a:off x="1669914" y="3522254"/>
            <a:ext cx="2959743" cy="369968"/>
          </a:xfrm>
          <a:prstGeom prst="rect">
            <a:avLst/>
          </a:prstGeom>
          <a:noFill/>
          <a:ln/>
        </p:spPr>
        <p:txBody>
          <a:bodyPr wrap="none" lIns="0" tIns="0" rIns="0" bIns="0" rtlCol="0" anchor="t"/>
          <a:lstStyle/>
          <a:p>
            <a:pPr marL="0" indent="0" algn="l">
              <a:lnSpc>
                <a:spcPts val="1650"/>
              </a:lnSpc>
              <a:buNone/>
            </a:pPr>
            <a:r>
              <a:rPr lang="en-US" sz="1350" dirty="0">
                <a:solidFill>
                  <a:srgbClr val="FFFFFF"/>
                </a:solidFill>
                <a:latin typeface="Raleway" pitchFamily="34" charset="0"/>
                <a:ea typeface="Raleway" pitchFamily="34" charset="-122"/>
                <a:cs typeface="Raleway" pitchFamily="34" charset="-120"/>
              </a:rPr>
              <a:t>Transcript Processing</a:t>
            </a:r>
            <a:endParaRPr lang="en-US" sz="1350" dirty="0"/>
          </a:p>
        </p:txBody>
      </p:sp>
      <p:sp>
        <p:nvSpPr>
          <p:cNvPr id="7" name="Text 4"/>
          <p:cNvSpPr/>
          <p:nvPr/>
        </p:nvSpPr>
        <p:spPr>
          <a:xfrm>
            <a:off x="1669914" y="2219967"/>
            <a:ext cx="2959743" cy="369968"/>
          </a:xfrm>
          <a:prstGeom prst="rect">
            <a:avLst/>
          </a:prstGeom>
          <a:noFill/>
          <a:ln/>
        </p:spPr>
        <p:txBody>
          <a:bodyPr wrap="none" lIns="0" tIns="0" rIns="0" bIns="0" rtlCol="0" anchor="t"/>
          <a:lstStyle/>
          <a:p>
            <a:pPr marL="0" indent="0" algn="l">
              <a:lnSpc>
                <a:spcPts val="1650"/>
              </a:lnSpc>
              <a:buNone/>
            </a:pPr>
            <a:r>
              <a:rPr lang="en-US" sz="1350" dirty="0">
                <a:solidFill>
                  <a:srgbClr val="FFFFFF"/>
                </a:solidFill>
                <a:latin typeface="Raleway" pitchFamily="34" charset="0"/>
                <a:ea typeface="Raleway" pitchFamily="34" charset="-122"/>
                <a:cs typeface="Raleway" pitchFamily="34" charset="-120"/>
              </a:rPr>
              <a:t>Input Documents</a:t>
            </a:r>
            <a:endParaRPr lang="en-US" sz="1350" dirty="0"/>
          </a:p>
        </p:txBody>
      </p:sp>
      <p:sp>
        <p:nvSpPr>
          <p:cNvPr id="8" name="Text 5"/>
          <p:cNvSpPr/>
          <p:nvPr/>
        </p:nvSpPr>
        <p:spPr>
          <a:xfrm>
            <a:off x="737830" y="7417713"/>
            <a:ext cx="13154739" cy="674608"/>
          </a:xfrm>
          <a:prstGeom prst="rect">
            <a:avLst/>
          </a:prstGeom>
          <a:noFill/>
          <a:ln/>
        </p:spPr>
        <p:txBody>
          <a:bodyPr wrap="square" lIns="0" tIns="0" rIns="0" bIns="0" rtlCol="0" anchor="t"/>
          <a:lstStyle/>
          <a:p>
            <a:pPr marL="0" indent="0" algn="l">
              <a:lnSpc>
                <a:spcPts val="2650"/>
              </a:lnSpc>
              <a:buNone/>
            </a:pPr>
            <a:r>
              <a:rPr lang="en-US" sz="1650" dirty="0">
                <a:solidFill>
                  <a:srgbClr val="3C3939"/>
                </a:solidFill>
                <a:latin typeface="Roboto" pitchFamily="34" charset="0"/>
                <a:ea typeface="Roboto" pitchFamily="34" charset="-122"/>
                <a:cs typeface="Roboto" pitchFamily="34" charset="-120"/>
              </a:rPr>
              <a:t>This modular architecture ensures robust processing of diverse inputs and intelligent decision-making, culminating in an intuitive user experience for admissions personnel.</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17471" y="563642"/>
            <a:ext cx="8193286" cy="416362"/>
          </a:xfrm>
          <a:prstGeom prst="rect">
            <a:avLst/>
          </a:prstGeom>
          <a:noFill/>
          <a:ln/>
        </p:spPr>
        <p:txBody>
          <a:bodyPr wrap="none" lIns="0" tIns="0" rIns="0" bIns="0" rtlCol="0" anchor="t"/>
          <a:lstStyle/>
          <a:p>
            <a:pPr marL="0" indent="0" algn="l">
              <a:lnSpc>
                <a:spcPts val="3250"/>
              </a:lnSpc>
              <a:buNone/>
            </a:pPr>
            <a:r>
              <a:rPr lang="en-US" sz="2600" dirty="0">
                <a:solidFill>
                  <a:srgbClr val="1B1B27"/>
                </a:solidFill>
                <a:latin typeface="Raleway" pitchFamily="34" charset="0"/>
                <a:ea typeface="Raleway" pitchFamily="34" charset="-122"/>
                <a:cs typeface="Raleway" pitchFamily="34" charset="-120"/>
              </a:rPr>
              <a:t>Solving Data Scarcity: Synthetic Transcript Generation</a:t>
            </a:r>
            <a:endParaRPr lang="en-US" sz="2600" dirty="0"/>
          </a:p>
        </p:txBody>
      </p:sp>
      <p:sp>
        <p:nvSpPr>
          <p:cNvPr id="3" name="Text 1"/>
          <p:cNvSpPr/>
          <p:nvPr/>
        </p:nvSpPr>
        <p:spPr>
          <a:xfrm>
            <a:off x="717471" y="1299686"/>
            <a:ext cx="6435209" cy="213122"/>
          </a:xfrm>
          <a:prstGeom prst="rect">
            <a:avLst/>
          </a:prstGeom>
          <a:noFill/>
          <a:ln/>
        </p:spPr>
        <p:txBody>
          <a:bodyPr wrap="none" lIns="0" tIns="0" rIns="0" bIns="0" rtlCol="0" anchor="t"/>
          <a:lstStyle/>
          <a:p>
            <a:pPr marL="0" indent="0" algn="l">
              <a:lnSpc>
                <a:spcPts val="1650"/>
              </a:lnSpc>
              <a:buNone/>
            </a:pPr>
            <a:endParaRPr lang="en-US" sz="1000" dirty="0"/>
          </a:p>
        </p:txBody>
      </p:sp>
      <p:sp>
        <p:nvSpPr>
          <p:cNvPr id="4" name="Shape 2"/>
          <p:cNvSpPr/>
          <p:nvPr/>
        </p:nvSpPr>
        <p:spPr>
          <a:xfrm>
            <a:off x="7485340" y="1529477"/>
            <a:ext cx="6435209" cy="1249085"/>
          </a:xfrm>
          <a:prstGeom prst="roundRect">
            <a:avLst>
              <a:gd name="adj" fmla="val 5856"/>
            </a:avLst>
          </a:prstGeom>
          <a:solidFill>
            <a:srgbClr val="FFFFFF">
              <a:alpha val="95000"/>
            </a:srgbClr>
          </a:solidFill>
          <a:ln/>
        </p:spPr>
        <p:txBody>
          <a:bodyPr/>
          <a:lstStyle/>
          <a:p>
            <a:endParaRPr lang="en-US"/>
          </a:p>
        </p:txBody>
      </p:sp>
      <p:sp>
        <p:nvSpPr>
          <p:cNvPr id="5" name="Shape 3"/>
          <p:cNvSpPr/>
          <p:nvPr/>
        </p:nvSpPr>
        <p:spPr>
          <a:xfrm>
            <a:off x="7485340" y="1514237"/>
            <a:ext cx="6435209" cy="60960"/>
          </a:xfrm>
          <a:prstGeom prst="roundRect">
            <a:avLst>
              <a:gd name="adj" fmla="val 91806"/>
            </a:avLst>
          </a:prstGeom>
          <a:solidFill>
            <a:srgbClr val="1B1B27"/>
          </a:solidFill>
          <a:ln/>
        </p:spPr>
        <p:txBody>
          <a:bodyPr/>
          <a:lstStyle/>
          <a:p>
            <a:endParaRPr lang="en-US"/>
          </a:p>
        </p:txBody>
      </p:sp>
      <p:sp>
        <p:nvSpPr>
          <p:cNvPr id="6" name="Shape 4"/>
          <p:cNvSpPr/>
          <p:nvPr/>
        </p:nvSpPr>
        <p:spPr>
          <a:xfrm>
            <a:off x="10503039" y="1329690"/>
            <a:ext cx="399693" cy="399693"/>
          </a:xfrm>
          <a:prstGeom prst="roundRect">
            <a:avLst>
              <a:gd name="adj" fmla="val 228776"/>
            </a:avLst>
          </a:prstGeom>
          <a:solidFill>
            <a:srgbClr val="1B1B27"/>
          </a:solidFill>
          <a:ln/>
        </p:spPr>
        <p:txBody>
          <a:bodyPr/>
          <a:lstStyle/>
          <a:p>
            <a:endParaRPr lang="en-US"/>
          </a:p>
        </p:txBody>
      </p:sp>
      <p:pic>
        <p:nvPicPr>
          <p:cNvPr id="7"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22935" y="1449586"/>
            <a:ext cx="159782" cy="159782"/>
          </a:xfrm>
          <a:prstGeom prst="rect">
            <a:avLst/>
          </a:prstGeom>
        </p:spPr>
      </p:pic>
      <p:sp>
        <p:nvSpPr>
          <p:cNvPr id="8" name="Text 5"/>
          <p:cNvSpPr/>
          <p:nvPr/>
        </p:nvSpPr>
        <p:spPr>
          <a:xfrm>
            <a:off x="7633811" y="1862495"/>
            <a:ext cx="1827609" cy="208121"/>
          </a:xfrm>
          <a:prstGeom prst="rect">
            <a:avLst/>
          </a:prstGeom>
          <a:noFill/>
          <a:ln/>
        </p:spPr>
        <p:txBody>
          <a:bodyPr wrap="none" lIns="0" tIns="0" rIns="0" bIns="0" rtlCol="0" anchor="t"/>
          <a:lstStyle/>
          <a:p>
            <a:pPr marL="0" indent="0" algn="l">
              <a:lnSpc>
                <a:spcPts val="1600"/>
              </a:lnSpc>
              <a:buNone/>
            </a:pPr>
            <a:r>
              <a:rPr lang="en-US" sz="1300" dirty="0">
                <a:solidFill>
                  <a:srgbClr val="3C3939"/>
                </a:solidFill>
                <a:latin typeface="Raleway" pitchFamily="34" charset="0"/>
                <a:ea typeface="Raleway" pitchFamily="34" charset="-122"/>
                <a:cs typeface="Raleway" pitchFamily="34" charset="-120"/>
              </a:rPr>
              <a:t>Unlimited Realistic Data</a:t>
            </a:r>
            <a:endParaRPr lang="en-US" sz="1300" dirty="0"/>
          </a:p>
        </p:txBody>
      </p:sp>
      <p:sp>
        <p:nvSpPr>
          <p:cNvPr id="9" name="Text 6"/>
          <p:cNvSpPr/>
          <p:nvPr/>
        </p:nvSpPr>
        <p:spPr>
          <a:xfrm>
            <a:off x="7633811" y="2203847"/>
            <a:ext cx="6138267" cy="426244"/>
          </a:xfrm>
          <a:prstGeom prst="rect">
            <a:avLst/>
          </a:prstGeom>
          <a:noFill/>
          <a:ln/>
        </p:spPr>
        <p:txBody>
          <a:bodyPr wrap="square" lIns="0" tIns="0" rIns="0" bIns="0" rtlCol="0" anchor="t"/>
          <a:lstStyle/>
          <a:p>
            <a:pPr marL="0" indent="0" algn="l">
              <a:lnSpc>
                <a:spcPts val="1650"/>
              </a:lnSpc>
              <a:buNone/>
            </a:pPr>
            <a:r>
              <a:rPr lang="en-US" sz="1000" dirty="0">
                <a:solidFill>
                  <a:srgbClr val="3C3939"/>
                </a:solidFill>
                <a:latin typeface="Roboto" pitchFamily="34" charset="0"/>
                <a:ea typeface="Roboto" pitchFamily="34" charset="-122"/>
                <a:cs typeface="Roboto" pitchFamily="34" charset="-120"/>
              </a:rPr>
              <a:t>Our custom generator creates an endless supply of transcripts that mirror real-world documents in structure and content.</a:t>
            </a:r>
            <a:endParaRPr lang="en-US" sz="1000" dirty="0"/>
          </a:p>
        </p:txBody>
      </p:sp>
      <p:sp>
        <p:nvSpPr>
          <p:cNvPr id="10" name="Shape 7"/>
          <p:cNvSpPr/>
          <p:nvPr/>
        </p:nvSpPr>
        <p:spPr>
          <a:xfrm>
            <a:off x="7485340" y="3111579"/>
            <a:ext cx="6435209" cy="1249085"/>
          </a:xfrm>
          <a:prstGeom prst="roundRect">
            <a:avLst>
              <a:gd name="adj" fmla="val 5856"/>
            </a:avLst>
          </a:prstGeom>
          <a:solidFill>
            <a:srgbClr val="FFFFFF">
              <a:alpha val="95000"/>
            </a:srgbClr>
          </a:solidFill>
          <a:ln/>
        </p:spPr>
        <p:txBody>
          <a:bodyPr/>
          <a:lstStyle/>
          <a:p>
            <a:endParaRPr lang="en-US"/>
          </a:p>
        </p:txBody>
      </p:sp>
      <p:sp>
        <p:nvSpPr>
          <p:cNvPr id="11" name="Shape 8"/>
          <p:cNvSpPr/>
          <p:nvPr/>
        </p:nvSpPr>
        <p:spPr>
          <a:xfrm>
            <a:off x="7485340" y="3096339"/>
            <a:ext cx="6435209" cy="60960"/>
          </a:xfrm>
          <a:prstGeom prst="roundRect">
            <a:avLst>
              <a:gd name="adj" fmla="val 91806"/>
            </a:avLst>
          </a:prstGeom>
          <a:solidFill>
            <a:srgbClr val="1B1B27"/>
          </a:solidFill>
          <a:ln/>
        </p:spPr>
        <p:txBody>
          <a:bodyPr/>
          <a:lstStyle/>
          <a:p>
            <a:endParaRPr lang="en-US"/>
          </a:p>
        </p:txBody>
      </p:sp>
      <p:sp>
        <p:nvSpPr>
          <p:cNvPr id="12" name="Shape 9"/>
          <p:cNvSpPr/>
          <p:nvPr/>
        </p:nvSpPr>
        <p:spPr>
          <a:xfrm>
            <a:off x="10503039" y="2911792"/>
            <a:ext cx="399693" cy="399693"/>
          </a:xfrm>
          <a:prstGeom prst="roundRect">
            <a:avLst>
              <a:gd name="adj" fmla="val 228776"/>
            </a:avLst>
          </a:prstGeom>
          <a:solidFill>
            <a:srgbClr val="1B1B27"/>
          </a:solidFill>
          <a:ln/>
        </p:spPr>
        <p:txBody>
          <a:bodyPr/>
          <a:lstStyle/>
          <a:p>
            <a:endParaRPr lang="en-US"/>
          </a:p>
        </p:txBody>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22935" y="3031688"/>
            <a:ext cx="159782" cy="159782"/>
          </a:xfrm>
          <a:prstGeom prst="rect">
            <a:avLst/>
          </a:prstGeom>
        </p:spPr>
      </p:pic>
      <p:sp>
        <p:nvSpPr>
          <p:cNvPr id="14" name="Text 10"/>
          <p:cNvSpPr/>
          <p:nvPr/>
        </p:nvSpPr>
        <p:spPr>
          <a:xfrm>
            <a:off x="7633811" y="3444597"/>
            <a:ext cx="1779746" cy="208121"/>
          </a:xfrm>
          <a:prstGeom prst="rect">
            <a:avLst/>
          </a:prstGeom>
          <a:noFill/>
          <a:ln/>
        </p:spPr>
        <p:txBody>
          <a:bodyPr wrap="none" lIns="0" tIns="0" rIns="0" bIns="0" rtlCol="0" anchor="t"/>
          <a:lstStyle/>
          <a:p>
            <a:pPr marL="0" indent="0" algn="l">
              <a:lnSpc>
                <a:spcPts val="1600"/>
              </a:lnSpc>
              <a:buNone/>
            </a:pPr>
            <a:r>
              <a:rPr lang="en-US" sz="1300" dirty="0">
                <a:solidFill>
                  <a:srgbClr val="3C3939"/>
                </a:solidFill>
                <a:latin typeface="Raleway" pitchFamily="34" charset="0"/>
                <a:ea typeface="Raleway" pitchFamily="34" charset="-122"/>
                <a:cs typeface="Raleway" pitchFamily="34" charset="-120"/>
              </a:rPr>
              <a:t>Dynamic Data Variation</a:t>
            </a:r>
            <a:endParaRPr lang="en-US" sz="1300" dirty="0"/>
          </a:p>
        </p:txBody>
      </p:sp>
      <p:sp>
        <p:nvSpPr>
          <p:cNvPr id="15" name="Text 11"/>
          <p:cNvSpPr/>
          <p:nvPr/>
        </p:nvSpPr>
        <p:spPr>
          <a:xfrm>
            <a:off x="7633811" y="3785949"/>
            <a:ext cx="6138267" cy="426244"/>
          </a:xfrm>
          <a:prstGeom prst="rect">
            <a:avLst/>
          </a:prstGeom>
          <a:noFill/>
          <a:ln/>
        </p:spPr>
        <p:txBody>
          <a:bodyPr wrap="square" lIns="0" tIns="0" rIns="0" bIns="0" rtlCol="0" anchor="t"/>
          <a:lstStyle/>
          <a:p>
            <a:pPr marL="0" indent="0" algn="l">
              <a:lnSpc>
                <a:spcPts val="1650"/>
              </a:lnSpc>
              <a:buNone/>
            </a:pPr>
            <a:r>
              <a:rPr lang="en-US" sz="1000" dirty="0">
                <a:solidFill>
                  <a:srgbClr val="3C3939"/>
                </a:solidFill>
                <a:latin typeface="Roboto" pitchFamily="34" charset="0"/>
                <a:ea typeface="Roboto" pitchFamily="34" charset="-122"/>
                <a:cs typeface="Roboto" pitchFamily="34" charset="-120"/>
              </a:rPr>
              <a:t>Each synthetic transcript features randomized names, GPAs, and subject lists, ensuring rich diversity for training.</a:t>
            </a:r>
            <a:endParaRPr lang="en-US" sz="1000" dirty="0"/>
          </a:p>
        </p:txBody>
      </p:sp>
      <p:sp>
        <p:nvSpPr>
          <p:cNvPr id="16" name="Shape 12"/>
          <p:cNvSpPr/>
          <p:nvPr/>
        </p:nvSpPr>
        <p:spPr>
          <a:xfrm>
            <a:off x="7485340" y="4693682"/>
            <a:ext cx="6435209" cy="1249085"/>
          </a:xfrm>
          <a:prstGeom prst="roundRect">
            <a:avLst>
              <a:gd name="adj" fmla="val 5856"/>
            </a:avLst>
          </a:prstGeom>
          <a:solidFill>
            <a:srgbClr val="FFFFFF">
              <a:alpha val="95000"/>
            </a:srgbClr>
          </a:solidFill>
          <a:ln/>
        </p:spPr>
        <p:txBody>
          <a:bodyPr/>
          <a:lstStyle/>
          <a:p>
            <a:endParaRPr lang="en-US"/>
          </a:p>
        </p:txBody>
      </p:sp>
      <p:sp>
        <p:nvSpPr>
          <p:cNvPr id="17" name="Shape 13"/>
          <p:cNvSpPr/>
          <p:nvPr/>
        </p:nvSpPr>
        <p:spPr>
          <a:xfrm>
            <a:off x="7485340" y="4678442"/>
            <a:ext cx="6435209" cy="60960"/>
          </a:xfrm>
          <a:prstGeom prst="roundRect">
            <a:avLst>
              <a:gd name="adj" fmla="val 91806"/>
            </a:avLst>
          </a:prstGeom>
          <a:solidFill>
            <a:srgbClr val="1B1B27"/>
          </a:solidFill>
          <a:ln/>
        </p:spPr>
        <p:txBody>
          <a:bodyPr/>
          <a:lstStyle/>
          <a:p>
            <a:endParaRPr lang="en-US"/>
          </a:p>
        </p:txBody>
      </p:sp>
      <p:sp>
        <p:nvSpPr>
          <p:cNvPr id="18" name="Shape 14"/>
          <p:cNvSpPr/>
          <p:nvPr/>
        </p:nvSpPr>
        <p:spPr>
          <a:xfrm>
            <a:off x="10503039" y="4493895"/>
            <a:ext cx="399693" cy="399693"/>
          </a:xfrm>
          <a:prstGeom prst="roundRect">
            <a:avLst>
              <a:gd name="adj" fmla="val 228776"/>
            </a:avLst>
          </a:prstGeom>
          <a:solidFill>
            <a:srgbClr val="1B1B27"/>
          </a:solidFill>
          <a:ln/>
        </p:spPr>
        <p:txBody>
          <a:bodyPr/>
          <a:lstStyle/>
          <a:p>
            <a:endParaRPr lang="en-US"/>
          </a:p>
        </p:txBody>
      </p:sp>
      <p:pic>
        <p:nvPicPr>
          <p:cNvPr id="1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622935" y="4613791"/>
            <a:ext cx="159782" cy="159782"/>
          </a:xfrm>
          <a:prstGeom prst="rect">
            <a:avLst/>
          </a:prstGeom>
        </p:spPr>
      </p:pic>
      <p:sp>
        <p:nvSpPr>
          <p:cNvPr id="20" name="Text 15"/>
          <p:cNvSpPr/>
          <p:nvPr/>
        </p:nvSpPr>
        <p:spPr>
          <a:xfrm>
            <a:off x="7633811" y="5026700"/>
            <a:ext cx="2452688" cy="208121"/>
          </a:xfrm>
          <a:prstGeom prst="rect">
            <a:avLst/>
          </a:prstGeom>
          <a:noFill/>
          <a:ln/>
        </p:spPr>
        <p:txBody>
          <a:bodyPr wrap="none" lIns="0" tIns="0" rIns="0" bIns="0" rtlCol="0" anchor="t"/>
          <a:lstStyle/>
          <a:p>
            <a:pPr marL="0" indent="0" algn="l">
              <a:lnSpc>
                <a:spcPts val="1600"/>
              </a:lnSpc>
              <a:buNone/>
            </a:pPr>
            <a:r>
              <a:rPr lang="en-US" sz="1300" dirty="0">
                <a:solidFill>
                  <a:srgbClr val="3C3939"/>
                </a:solidFill>
                <a:latin typeface="Raleway" pitchFamily="34" charset="0"/>
                <a:ea typeface="Raleway" pitchFamily="34" charset="-122"/>
                <a:cs typeface="Raleway" pitchFamily="34" charset="-120"/>
              </a:rPr>
              <a:t>Overcoming Dataset Limitations</a:t>
            </a:r>
            <a:endParaRPr lang="en-US" sz="1300" dirty="0"/>
          </a:p>
        </p:txBody>
      </p:sp>
      <p:sp>
        <p:nvSpPr>
          <p:cNvPr id="21" name="Text 16"/>
          <p:cNvSpPr/>
          <p:nvPr/>
        </p:nvSpPr>
        <p:spPr>
          <a:xfrm>
            <a:off x="7633811" y="5368052"/>
            <a:ext cx="6138267" cy="426244"/>
          </a:xfrm>
          <a:prstGeom prst="rect">
            <a:avLst/>
          </a:prstGeom>
          <a:noFill/>
          <a:ln/>
        </p:spPr>
        <p:txBody>
          <a:bodyPr wrap="square" lIns="0" tIns="0" rIns="0" bIns="0" rtlCol="0" anchor="t"/>
          <a:lstStyle/>
          <a:p>
            <a:pPr marL="0" indent="0" algn="l">
              <a:lnSpc>
                <a:spcPts val="1650"/>
              </a:lnSpc>
              <a:buNone/>
            </a:pPr>
            <a:r>
              <a:rPr lang="en-US" sz="1000" dirty="0">
                <a:solidFill>
                  <a:srgbClr val="3C3939"/>
                </a:solidFill>
                <a:latin typeface="Roboto" pitchFamily="34" charset="0"/>
                <a:ea typeface="Roboto" pitchFamily="34" charset="-122"/>
                <a:cs typeface="Roboto" pitchFamily="34" charset="-120"/>
              </a:rPr>
              <a:t>This innovation directly addresses the scarcity of real, FERPA-compliant annotated data, making deep learning feasible.</a:t>
            </a:r>
            <a:endParaRPr lang="en-US" sz="1000" dirty="0"/>
          </a:p>
        </p:txBody>
      </p:sp>
      <p:sp>
        <p:nvSpPr>
          <p:cNvPr id="22" name="Shape 17"/>
          <p:cNvSpPr/>
          <p:nvPr/>
        </p:nvSpPr>
        <p:spPr>
          <a:xfrm>
            <a:off x="7485340" y="6275784"/>
            <a:ext cx="6435209" cy="1249085"/>
          </a:xfrm>
          <a:prstGeom prst="roundRect">
            <a:avLst>
              <a:gd name="adj" fmla="val 5856"/>
            </a:avLst>
          </a:prstGeom>
          <a:solidFill>
            <a:srgbClr val="FFFFFF">
              <a:alpha val="95000"/>
            </a:srgbClr>
          </a:solidFill>
          <a:ln/>
        </p:spPr>
        <p:txBody>
          <a:bodyPr/>
          <a:lstStyle/>
          <a:p>
            <a:endParaRPr lang="en-US"/>
          </a:p>
        </p:txBody>
      </p:sp>
      <p:sp>
        <p:nvSpPr>
          <p:cNvPr id="23" name="Shape 18"/>
          <p:cNvSpPr/>
          <p:nvPr/>
        </p:nvSpPr>
        <p:spPr>
          <a:xfrm>
            <a:off x="7485340" y="6260544"/>
            <a:ext cx="6435209" cy="60960"/>
          </a:xfrm>
          <a:prstGeom prst="roundRect">
            <a:avLst>
              <a:gd name="adj" fmla="val 91806"/>
            </a:avLst>
          </a:prstGeom>
          <a:solidFill>
            <a:srgbClr val="1B1B27"/>
          </a:solidFill>
          <a:ln/>
        </p:spPr>
        <p:txBody>
          <a:bodyPr/>
          <a:lstStyle/>
          <a:p>
            <a:endParaRPr lang="en-US"/>
          </a:p>
        </p:txBody>
      </p:sp>
      <p:sp>
        <p:nvSpPr>
          <p:cNvPr id="24" name="Shape 19"/>
          <p:cNvSpPr/>
          <p:nvPr/>
        </p:nvSpPr>
        <p:spPr>
          <a:xfrm>
            <a:off x="10503039" y="6075998"/>
            <a:ext cx="399693" cy="399693"/>
          </a:xfrm>
          <a:prstGeom prst="roundRect">
            <a:avLst>
              <a:gd name="adj" fmla="val 228776"/>
            </a:avLst>
          </a:prstGeom>
          <a:solidFill>
            <a:srgbClr val="1B1B27"/>
          </a:solidFill>
          <a:ln/>
        </p:spPr>
        <p:txBody>
          <a:bodyPr/>
          <a:lstStyle/>
          <a:p>
            <a:endParaRPr lang="en-US"/>
          </a:p>
        </p:txBody>
      </p:sp>
      <p:pic>
        <p:nvPicPr>
          <p:cNvPr id="25"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622935" y="6195893"/>
            <a:ext cx="159782" cy="159782"/>
          </a:xfrm>
          <a:prstGeom prst="rect">
            <a:avLst/>
          </a:prstGeom>
        </p:spPr>
      </p:pic>
      <p:sp>
        <p:nvSpPr>
          <p:cNvPr id="26" name="Text 20"/>
          <p:cNvSpPr/>
          <p:nvPr/>
        </p:nvSpPr>
        <p:spPr>
          <a:xfrm>
            <a:off x="7633811" y="6608802"/>
            <a:ext cx="2147054" cy="208121"/>
          </a:xfrm>
          <a:prstGeom prst="rect">
            <a:avLst/>
          </a:prstGeom>
          <a:noFill/>
          <a:ln/>
        </p:spPr>
        <p:txBody>
          <a:bodyPr wrap="none" lIns="0" tIns="0" rIns="0" bIns="0" rtlCol="0" anchor="t"/>
          <a:lstStyle/>
          <a:p>
            <a:pPr marL="0" indent="0" algn="l">
              <a:lnSpc>
                <a:spcPts val="1600"/>
              </a:lnSpc>
              <a:buNone/>
            </a:pPr>
            <a:r>
              <a:rPr lang="en-US" sz="1300" dirty="0">
                <a:solidFill>
                  <a:srgbClr val="3C3939"/>
                </a:solidFill>
                <a:latin typeface="Raleway" pitchFamily="34" charset="0"/>
                <a:ea typeface="Raleway" pitchFamily="34" charset="-122"/>
                <a:cs typeface="Raleway" pitchFamily="34" charset="-120"/>
              </a:rPr>
              <a:t>Future-Proof Model Training</a:t>
            </a:r>
            <a:endParaRPr lang="en-US" sz="1300" dirty="0"/>
          </a:p>
        </p:txBody>
      </p:sp>
      <p:sp>
        <p:nvSpPr>
          <p:cNvPr id="27" name="Text 21"/>
          <p:cNvSpPr/>
          <p:nvPr/>
        </p:nvSpPr>
        <p:spPr>
          <a:xfrm>
            <a:off x="7633811" y="6950154"/>
            <a:ext cx="6138267" cy="426244"/>
          </a:xfrm>
          <a:prstGeom prst="rect">
            <a:avLst/>
          </a:prstGeom>
          <a:noFill/>
          <a:ln/>
        </p:spPr>
        <p:txBody>
          <a:bodyPr wrap="square" lIns="0" tIns="0" rIns="0" bIns="0" rtlCol="0" anchor="t"/>
          <a:lstStyle/>
          <a:p>
            <a:pPr marL="0" indent="0" algn="l">
              <a:lnSpc>
                <a:spcPts val="1650"/>
              </a:lnSpc>
              <a:buNone/>
            </a:pPr>
            <a:r>
              <a:rPr lang="en-US" sz="1000" dirty="0">
                <a:solidFill>
                  <a:srgbClr val="3C3939"/>
                </a:solidFill>
                <a:latin typeface="Roboto" pitchFamily="34" charset="0"/>
                <a:ea typeface="Roboto" pitchFamily="34" charset="-122"/>
                <a:cs typeface="Roboto" pitchFamily="34" charset="-120"/>
              </a:rPr>
              <a:t>The synthetic data provides a continuous, scalable resource for training and refining future iterations of LayoutLM models.</a:t>
            </a:r>
            <a:endParaRPr lang="en-US" sz="1000" dirty="0"/>
          </a:p>
        </p:txBody>
      </p:sp>
      <p:pic>
        <p:nvPicPr>
          <p:cNvPr id="30" name="Picture 29" descr="A white paper with black text&#10;&#10;AI-generated content may be incorrect.">
            <a:extLst>
              <a:ext uri="{FF2B5EF4-FFF2-40B4-BE49-F238E27FC236}">
                <a16:creationId xmlns:a16="http://schemas.microsoft.com/office/drawing/2014/main" id="{849CCAAA-ACD9-8471-B1CB-7DE39CDE8107}"/>
              </a:ext>
            </a:extLst>
          </p:cNvPr>
          <p:cNvPicPr>
            <a:picLocks noChangeAspect="1"/>
          </p:cNvPicPr>
          <p:nvPr/>
        </p:nvPicPr>
        <p:blipFill>
          <a:blip r:embed="rId11"/>
          <a:stretch>
            <a:fillRect/>
          </a:stretch>
        </p:blipFill>
        <p:spPr>
          <a:xfrm>
            <a:off x="246910" y="1402297"/>
            <a:ext cx="4454116" cy="561979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646390"/>
            <a:ext cx="12217241"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User Interface: Empowering Admissions Teams</a:t>
            </a:r>
            <a:endParaRPr lang="en-US" sz="4450" dirty="0"/>
          </a:p>
        </p:txBody>
      </p:sp>
      <p:sp>
        <p:nvSpPr>
          <p:cNvPr id="3" name="Shape 1"/>
          <p:cNvSpPr/>
          <p:nvPr/>
        </p:nvSpPr>
        <p:spPr>
          <a:xfrm>
            <a:off x="793790" y="1808798"/>
            <a:ext cx="4196358" cy="2955250"/>
          </a:xfrm>
          <a:prstGeom prst="roundRect">
            <a:avLst>
              <a:gd name="adj" fmla="val 3224"/>
            </a:avLst>
          </a:prstGeom>
          <a:solidFill>
            <a:srgbClr val="E1E1EA"/>
          </a:solidFill>
          <a:ln w="7620">
            <a:solidFill>
              <a:srgbClr val="C7C7D0"/>
            </a:solidFill>
            <a:prstDash val="solid"/>
          </a:ln>
        </p:spPr>
        <p:txBody>
          <a:bodyPr/>
          <a:lstStyle/>
          <a:p>
            <a:endParaRPr lang="en-US"/>
          </a:p>
        </p:txBody>
      </p:sp>
      <p:sp>
        <p:nvSpPr>
          <p:cNvPr id="4" name="Shape 2"/>
          <p:cNvSpPr/>
          <p:nvPr/>
        </p:nvSpPr>
        <p:spPr>
          <a:xfrm>
            <a:off x="1028224" y="2043232"/>
            <a:ext cx="680442" cy="680442"/>
          </a:xfrm>
          <a:prstGeom prst="roundRect">
            <a:avLst>
              <a:gd name="adj" fmla="val 13436980"/>
            </a:avLst>
          </a:prstGeom>
          <a:solidFill>
            <a:srgbClr val="1B1B27"/>
          </a:solidFill>
          <a:ln/>
        </p:spPr>
        <p:txBody>
          <a:bodyPr/>
          <a:lstStyle/>
          <a:p>
            <a:endParaRPr lang="en-US"/>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15390" y="2230279"/>
            <a:ext cx="306110" cy="306110"/>
          </a:xfrm>
          <a:prstGeom prst="rect">
            <a:avLst/>
          </a:prstGeom>
        </p:spPr>
      </p:pic>
      <p:sp>
        <p:nvSpPr>
          <p:cNvPr id="6" name="Text 3"/>
          <p:cNvSpPr/>
          <p:nvPr/>
        </p:nvSpPr>
        <p:spPr>
          <a:xfrm>
            <a:off x="1028224" y="2950488"/>
            <a:ext cx="3657243"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Seamless Transcript Upload</a:t>
            </a:r>
            <a:endParaRPr lang="en-US" sz="2200" dirty="0"/>
          </a:p>
        </p:txBody>
      </p:sp>
      <p:sp>
        <p:nvSpPr>
          <p:cNvPr id="7" name="Text 4"/>
          <p:cNvSpPr/>
          <p:nvPr/>
        </p:nvSpPr>
        <p:spPr>
          <a:xfrm>
            <a:off x="1028224" y="3440906"/>
            <a:ext cx="3727490"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Admissions officers can easily upload transcript files in various formats (PDF, JPG, PNG).</a:t>
            </a:r>
            <a:endParaRPr lang="en-US" sz="1750" dirty="0"/>
          </a:p>
        </p:txBody>
      </p:sp>
      <p:sp>
        <p:nvSpPr>
          <p:cNvPr id="8" name="Shape 5"/>
          <p:cNvSpPr/>
          <p:nvPr/>
        </p:nvSpPr>
        <p:spPr>
          <a:xfrm>
            <a:off x="5216962" y="1808798"/>
            <a:ext cx="4196358" cy="2955250"/>
          </a:xfrm>
          <a:prstGeom prst="roundRect">
            <a:avLst>
              <a:gd name="adj" fmla="val 3224"/>
            </a:avLst>
          </a:prstGeom>
          <a:solidFill>
            <a:srgbClr val="E1E1EA"/>
          </a:solidFill>
          <a:ln w="7620">
            <a:solidFill>
              <a:srgbClr val="C7C7D0"/>
            </a:solidFill>
            <a:prstDash val="solid"/>
          </a:ln>
        </p:spPr>
        <p:txBody>
          <a:bodyPr/>
          <a:lstStyle/>
          <a:p>
            <a:endParaRPr lang="en-US"/>
          </a:p>
        </p:txBody>
      </p:sp>
      <p:sp>
        <p:nvSpPr>
          <p:cNvPr id="9" name="Shape 6"/>
          <p:cNvSpPr/>
          <p:nvPr/>
        </p:nvSpPr>
        <p:spPr>
          <a:xfrm>
            <a:off x="5451396" y="2043232"/>
            <a:ext cx="680442" cy="680442"/>
          </a:xfrm>
          <a:prstGeom prst="roundRect">
            <a:avLst>
              <a:gd name="adj" fmla="val 13436980"/>
            </a:avLst>
          </a:prstGeom>
          <a:solidFill>
            <a:srgbClr val="1B1B27"/>
          </a:solidFill>
          <a:ln/>
        </p:spPr>
        <p:txBody>
          <a:bodyPr/>
          <a:lstStyle/>
          <a:p>
            <a:endParaRPr lang="en-US"/>
          </a:p>
        </p:txBody>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38562" y="2230279"/>
            <a:ext cx="306110" cy="306110"/>
          </a:xfrm>
          <a:prstGeom prst="rect">
            <a:avLst/>
          </a:prstGeom>
        </p:spPr>
      </p:pic>
      <p:sp>
        <p:nvSpPr>
          <p:cNvPr id="11" name="Text 7"/>
          <p:cNvSpPr/>
          <p:nvPr/>
        </p:nvSpPr>
        <p:spPr>
          <a:xfrm>
            <a:off x="5451396" y="2950488"/>
            <a:ext cx="3468767"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Automated GPA Extraction</a:t>
            </a:r>
            <a:endParaRPr lang="en-US" sz="2200" dirty="0"/>
          </a:p>
        </p:txBody>
      </p:sp>
      <p:sp>
        <p:nvSpPr>
          <p:cNvPr id="12" name="Text 8"/>
          <p:cNvSpPr/>
          <p:nvPr/>
        </p:nvSpPr>
        <p:spPr>
          <a:xfrm>
            <a:off x="5451396" y="3440906"/>
            <a:ext cx="3727490"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The system quickly processes the uploaded document to identify and extract the cumulative GPA.</a:t>
            </a:r>
            <a:endParaRPr lang="en-US" sz="1750" dirty="0"/>
          </a:p>
        </p:txBody>
      </p:sp>
      <p:sp>
        <p:nvSpPr>
          <p:cNvPr id="13" name="Shape 9"/>
          <p:cNvSpPr/>
          <p:nvPr/>
        </p:nvSpPr>
        <p:spPr>
          <a:xfrm>
            <a:off x="9640133" y="1808798"/>
            <a:ext cx="4196358" cy="2955250"/>
          </a:xfrm>
          <a:prstGeom prst="roundRect">
            <a:avLst>
              <a:gd name="adj" fmla="val 3224"/>
            </a:avLst>
          </a:prstGeom>
          <a:solidFill>
            <a:srgbClr val="E1E1EA"/>
          </a:solidFill>
          <a:ln w="7620">
            <a:solidFill>
              <a:srgbClr val="C7C7D0"/>
            </a:solidFill>
            <a:prstDash val="solid"/>
          </a:ln>
        </p:spPr>
        <p:txBody>
          <a:bodyPr/>
          <a:lstStyle/>
          <a:p>
            <a:endParaRPr lang="en-US"/>
          </a:p>
        </p:txBody>
      </p:sp>
      <p:sp>
        <p:nvSpPr>
          <p:cNvPr id="14" name="Shape 10"/>
          <p:cNvSpPr/>
          <p:nvPr/>
        </p:nvSpPr>
        <p:spPr>
          <a:xfrm>
            <a:off x="9874568" y="2043232"/>
            <a:ext cx="680442" cy="680442"/>
          </a:xfrm>
          <a:prstGeom prst="roundRect">
            <a:avLst>
              <a:gd name="adj" fmla="val 13436980"/>
            </a:avLst>
          </a:prstGeom>
          <a:solidFill>
            <a:srgbClr val="1B1B27"/>
          </a:solidFill>
          <a:ln/>
        </p:spPr>
        <p:txBody>
          <a:bodyPr/>
          <a:lstStyle/>
          <a:p>
            <a:endParaRPr lang="en-US"/>
          </a:p>
        </p:txBody>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61734" y="2230279"/>
            <a:ext cx="306110" cy="306110"/>
          </a:xfrm>
          <a:prstGeom prst="rect">
            <a:avLst/>
          </a:prstGeom>
        </p:spPr>
      </p:pic>
      <p:sp>
        <p:nvSpPr>
          <p:cNvPr id="16" name="Text 11"/>
          <p:cNvSpPr/>
          <p:nvPr/>
        </p:nvSpPr>
        <p:spPr>
          <a:xfrm>
            <a:off x="9874568" y="2950488"/>
            <a:ext cx="334577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GPA Confidence Indicator</a:t>
            </a:r>
            <a:endParaRPr lang="en-US" sz="2200" dirty="0"/>
          </a:p>
        </p:txBody>
      </p:sp>
      <p:sp>
        <p:nvSpPr>
          <p:cNvPr id="17" name="Text 12"/>
          <p:cNvSpPr/>
          <p:nvPr/>
        </p:nvSpPr>
        <p:spPr>
          <a:xfrm>
            <a:off x="9874568" y="3440906"/>
            <a:ext cx="3727490"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A confidence score accompanies the extracted GPA, providing transparency on extraction accuracy.</a:t>
            </a:r>
            <a:endParaRPr lang="en-US" sz="1750" dirty="0"/>
          </a:p>
        </p:txBody>
      </p:sp>
      <p:sp>
        <p:nvSpPr>
          <p:cNvPr id="18" name="Shape 13"/>
          <p:cNvSpPr/>
          <p:nvPr/>
        </p:nvSpPr>
        <p:spPr>
          <a:xfrm>
            <a:off x="793790" y="4990862"/>
            <a:ext cx="6407944" cy="2592348"/>
          </a:xfrm>
          <a:prstGeom prst="roundRect">
            <a:avLst>
              <a:gd name="adj" fmla="val 3675"/>
            </a:avLst>
          </a:prstGeom>
          <a:solidFill>
            <a:srgbClr val="E1E1EA"/>
          </a:solidFill>
          <a:ln w="7620">
            <a:solidFill>
              <a:srgbClr val="C7C7D0"/>
            </a:solidFill>
            <a:prstDash val="solid"/>
          </a:ln>
        </p:spPr>
        <p:txBody>
          <a:bodyPr/>
          <a:lstStyle/>
          <a:p>
            <a:endParaRPr lang="en-US"/>
          </a:p>
        </p:txBody>
      </p:sp>
      <p:sp>
        <p:nvSpPr>
          <p:cNvPr id="19" name="Shape 14"/>
          <p:cNvSpPr/>
          <p:nvPr/>
        </p:nvSpPr>
        <p:spPr>
          <a:xfrm>
            <a:off x="1028224" y="5225296"/>
            <a:ext cx="680442" cy="680442"/>
          </a:xfrm>
          <a:prstGeom prst="roundRect">
            <a:avLst>
              <a:gd name="adj" fmla="val 13436980"/>
            </a:avLst>
          </a:prstGeom>
          <a:solidFill>
            <a:srgbClr val="1B1B27"/>
          </a:solidFill>
          <a:ln/>
        </p:spPr>
        <p:txBody>
          <a:bodyPr/>
          <a:lstStyle/>
          <a:p>
            <a:endParaRPr lang="en-US"/>
          </a:p>
        </p:txBody>
      </p:sp>
      <p:pic>
        <p:nvPicPr>
          <p:cNvPr id="20"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15390" y="5412343"/>
            <a:ext cx="306110" cy="306110"/>
          </a:xfrm>
          <a:prstGeom prst="rect">
            <a:avLst/>
          </a:prstGeom>
        </p:spPr>
      </p:pic>
      <p:sp>
        <p:nvSpPr>
          <p:cNvPr id="21" name="Text 15"/>
          <p:cNvSpPr/>
          <p:nvPr/>
        </p:nvSpPr>
        <p:spPr>
          <a:xfrm>
            <a:off x="1028224" y="6132552"/>
            <a:ext cx="3150513"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Instant Eligibility Results</a:t>
            </a:r>
            <a:endParaRPr lang="en-US" sz="2200" dirty="0"/>
          </a:p>
        </p:txBody>
      </p:sp>
      <p:sp>
        <p:nvSpPr>
          <p:cNvPr id="22" name="Text 16"/>
          <p:cNvSpPr/>
          <p:nvPr/>
        </p:nvSpPr>
        <p:spPr>
          <a:xfrm>
            <a:off x="1028224" y="6622971"/>
            <a:ext cx="5939076"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Program eligibility is evaluated in real-time based on predefined criteria, reducing manual assessment time.</a:t>
            </a:r>
            <a:endParaRPr lang="en-US" sz="1750" dirty="0"/>
          </a:p>
        </p:txBody>
      </p:sp>
      <p:sp>
        <p:nvSpPr>
          <p:cNvPr id="23" name="Shape 17"/>
          <p:cNvSpPr/>
          <p:nvPr/>
        </p:nvSpPr>
        <p:spPr>
          <a:xfrm>
            <a:off x="7428548" y="4990862"/>
            <a:ext cx="6407944" cy="2592348"/>
          </a:xfrm>
          <a:prstGeom prst="roundRect">
            <a:avLst>
              <a:gd name="adj" fmla="val 3675"/>
            </a:avLst>
          </a:prstGeom>
          <a:solidFill>
            <a:srgbClr val="E1E1EA"/>
          </a:solidFill>
          <a:ln w="7620">
            <a:solidFill>
              <a:srgbClr val="C7C7D0"/>
            </a:solidFill>
            <a:prstDash val="solid"/>
          </a:ln>
        </p:spPr>
        <p:txBody>
          <a:bodyPr/>
          <a:lstStyle/>
          <a:p>
            <a:endParaRPr lang="en-US"/>
          </a:p>
        </p:txBody>
      </p:sp>
      <p:sp>
        <p:nvSpPr>
          <p:cNvPr id="24" name="Shape 18"/>
          <p:cNvSpPr/>
          <p:nvPr/>
        </p:nvSpPr>
        <p:spPr>
          <a:xfrm>
            <a:off x="7662982" y="5225296"/>
            <a:ext cx="680442" cy="680442"/>
          </a:xfrm>
          <a:prstGeom prst="roundRect">
            <a:avLst>
              <a:gd name="adj" fmla="val 13436980"/>
            </a:avLst>
          </a:prstGeom>
          <a:solidFill>
            <a:srgbClr val="1B1B27"/>
          </a:solidFill>
          <a:ln/>
        </p:spPr>
        <p:txBody>
          <a:bodyPr/>
          <a:lstStyle/>
          <a:p>
            <a:endParaRPr lang="en-US"/>
          </a:p>
        </p:txBody>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850148" y="5412343"/>
            <a:ext cx="306110" cy="306110"/>
          </a:xfrm>
          <a:prstGeom prst="rect">
            <a:avLst/>
          </a:prstGeom>
        </p:spPr>
      </p:pic>
      <p:sp>
        <p:nvSpPr>
          <p:cNvPr id="26" name="Text 19"/>
          <p:cNvSpPr/>
          <p:nvPr/>
        </p:nvSpPr>
        <p:spPr>
          <a:xfrm>
            <a:off x="7662982" y="613255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OCR Text Preview</a:t>
            </a:r>
            <a:endParaRPr lang="en-US" sz="2200" dirty="0"/>
          </a:p>
        </p:txBody>
      </p:sp>
      <p:sp>
        <p:nvSpPr>
          <p:cNvPr id="27" name="Text 20"/>
          <p:cNvSpPr/>
          <p:nvPr/>
        </p:nvSpPr>
        <p:spPr>
          <a:xfrm>
            <a:off x="7662982" y="6622971"/>
            <a:ext cx="5939076"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Users can review the underlying OCR-generated text for verification or troubleshooting purposes.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F02E7-82A5-78F9-0084-814404125E0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D7F377B-F4EA-4C57-365F-029849012A5F}"/>
              </a:ext>
            </a:extLst>
          </p:cNvPr>
          <p:cNvSpPr/>
          <p:nvPr/>
        </p:nvSpPr>
        <p:spPr>
          <a:xfrm>
            <a:off x="793790" y="147116"/>
            <a:ext cx="12217241"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User Interface: Empowering Admissions Teams</a:t>
            </a:r>
            <a:endParaRPr lang="en-US" sz="4450" dirty="0"/>
          </a:p>
        </p:txBody>
      </p:sp>
      <p:pic>
        <p:nvPicPr>
          <p:cNvPr id="31" name="Picture 30" descr="A screenshot of a computer&#10;&#10;AI-generated content may be incorrect.">
            <a:extLst>
              <a:ext uri="{FF2B5EF4-FFF2-40B4-BE49-F238E27FC236}">
                <a16:creationId xmlns:a16="http://schemas.microsoft.com/office/drawing/2014/main" id="{DC14322E-ACE4-72C9-092A-B045BA4F4013}"/>
              </a:ext>
            </a:extLst>
          </p:cNvPr>
          <p:cNvPicPr>
            <a:picLocks noChangeAspect="1"/>
          </p:cNvPicPr>
          <p:nvPr/>
        </p:nvPicPr>
        <p:blipFill>
          <a:blip r:embed="rId3"/>
          <a:stretch>
            <a:fillRect/>
          </a:stretch>
        </p:blipFill>
        <p:spPr>
          <a:xfrm>
            <a:off x="1044511" y="1010997"/>
            <a:ext cx="11715798" cy="6680060"/>
          </a:xfrm>
          <a:prstGeom prst="rect">
            <a:avLst/>
          </a:prstGeom>
        </p:spPr>
      </p:pic>
    </p:spTree>
    <p:extLst>
      <p:ext uri="{BB962C8B-B14F-4D97-AF65-F5344CB8AC3E}">
        <p14:creationId xmlns:p14="http://schemas.microsoft.com/office/powerpoint/2010/main" val="938539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818793"/>
            <a:ext cx="6522125" cy="460772"/>
          </a:xfrm>
          <a:prstGeom prst="rect">
            <a:avLst/>
          </a:prstGeom>
          <a:noFill/>
          <a:ln/>
        </p:spPr>
        <p:txBody>
          <a:bodyPr wrap="none" lIns="0" tIns="0" rIns="0" bIns="0" rtlCol="0" anchor="t"/>
          <a:lstStyle/>
          <a:p>
            <a:pPr marL="0" indent="0" algn="l">
              <a:lnSpc>
                <a:spcPts val="3600"/>
              </a:lnSpc>
              <a:buNone/>
            </a:pPr>
            <a:r>
              <a:rPr lang="en-US" sz="2900" dirty="0">
                <a:solidFill>
                  <a:srgbClr val="1B1B27"/>
                </a:solidFill>
                <a:latin typeface="Raleway" pitchFamily="34" charset="0"/>
                <a:ea typeface="Raleway" pitchFamily="34" charset="-122"/>
                <a:cs typeface="Raleway" pitchFamily="34" charset="-120"/>
              </a:rPr>
              <a:t>Key Achievements and Future Outlook</a:t>
            </a:r>
            <a:endParaRPr lang="en-US" sz="2900" dirty="0"/>
          </a:p>
        </p:txBody>
      </p:sp>
      <p:sp>
        <p:nvSpPr>
          <p:cNvPr id="3" name="Shape 1"/>
          <p:cNvSpPr/>
          <p:nvPr/>
        </p:nvSpPr>
        <p:spPr>
          <a:xfrm>
            <a:off x="793790" y="1740218"/>
            <a:ext cx="5891213" cy="184190"/>
          </a:xfrm>
          <a:prstGeom prst="roundRect">
            <a:avLst>
              <a:gd name="adj" fmla="val 33620"/>
            </a:avLst>
          </a:prstGeom>
          <a:solidFill>
            <a:srgbClr val="E1E1EA"/>
          </a:solidFill>
          <a:ln w="7620">
            <a:solidFill>
              <a:srgbClr val="C7C7D0"/>
            </a:solidFill>
            <a:prstDash val="solid"/>
          </a:ln>
        </p:spPr>
        <p:txBody>
          <a:bodyPr/>
          <a:lstStyle/>
          <a:p>
            <a:endParaRPr lang="en-US"/>
          </a:p>
        </p:txBody>
      </p:sp>
      <p:sp>
        <p:nvSpPr>
          <p:cNvPr id="4" name="Shape 2"/>
          <p:cNvSpPr/>
          <p:nvPr/>
        </p:nvSpPr>
        <p:spPr>
          <a:xfrm>
            <a:off x="793790" y="1740218"/>
            <a:ext cx="5596652" cy="184190"/>
          </a:xfrm>
          <a:prstGeom prst="roundRect">
            <a:avLst>
              <a:gd name="adj" fmla="val 33620"/>
            </a:avLst>
          </a:prstGeom>
          <a:solidFill>
            <a:srgbClr val="1B1B27"/>
          </a:solidFill>
          <a:ln/>
        </p:spPr>
        <p:txBody>
          <a:bodyPr/>
          <a:lstStyle/>
          <a:p>
            <a:endParaRPr lang="en-US"/>
          </a:p>
        </p:txBody>
      </p:sp>
      <p:sp>
        <p:nvSpPr>
          <p:cNvPr id="5" name="Text 3"/>
          <p:cNvSpPr/>
          <p:nvPr/>
        </p:nvSpPr>
        <p:spPr>
          <a:xfrm>
            <a:off x="6795492" y="1740218"/>
            <a:ext cx="339923" cy="184190"/>
          </a:xfrm>
          <a:prstGeom prst="rect">
            <a:avLst/>
          </a:prstGeom>
          <a:noFill/>
          <a:ln/>
        </p:spPr>
        <p:txBody>
          <a:bodyPr wrap="none" lIns="0" tIns="0" rIns="0" bIns="0" rtlCol="0" anchor="t"/>
          <a:lstStyle/>
          <a:p>
            <a:pPr marL="0" indent="0" algn="l">
              <a:lnSpc>
                <a:spcPts val="1450"/>
              </a:lnSpc>
              <a:buNone/>
            </a:pPr>
            <a:r>
              <a:rPr lang="en-US" sz="1450" dirty="0">
                <a:solidFill>
                  <a:srgbClr val="3C3939"/>
                </a:solidFill>
                <a:latin typeface="Raleway" pitchFamily="34" charset="0"/>
                <a:ea typeface="Raleway" pitchFamily="34" charset="-122"/>
                <a:cs typeface="Raleway" pitchFamily="34" charset="-120"/>
              </a:rPr>
              <a:t>95%</a:t>
            </a:r>
            <a:endParaRPr lang="en-US" sz="1450" dirty="0"/>
          </a:p>
        </p:txBody>
      </p:sp>
      <p:sp>
        <p:nvSpPr>
          <p:cNvPr id="6" name="Text 4"/>
          <p:cNvSpPr/>
          <p:nvPr/>
        </p:nvSpPr>
        <p:spPr>
          <a:xfrm>
            <a:off x="793790" y="2108597"/>
            <a:ext cx="2092404" cy="230386"/>
          </a:xfrm>
          <a:prstGeom prst="rect">
            <a:avLst/>
          </a:prstGeom>
          <a:noFill/>
          <a:ln/>
        </p:spPr>
        <p:txBody>
          <a:bodyPr wrap="none" lIns="0" tIns="0" rIns="0" bIns="0" rtlCol="0" anchor="t"/>
          <a:lstStyle/>
          <a:p>
            <a:pPr marL="0" indent="0" algn="l">
              <a:lnSpc>
                <a:spcPts val="1800"/>
              </a:lnSpc>
              <a:buNone/>
            </a:pPr>
            <a:r>
              <a:rPr lang="en-US" sz="1450" dirty="0">
                <a:solidFill>
                  <a:srgbClr val="3C3939"/>
                </a:solidFill>
                <a:latin typeface="Raleway" pitchFamily="34" charset="0"/>
                <a:ea typeface="Raleway" pitchFamily="34" charset="-122"/>
                <a:cs typeface="Raleway" pitchFamily="34" charset="-120"/>
              </a:rPr>
              <a:t>GPA Extraction Accuracy</a:t>
            </a:r>
            <a:endParaRPr lang="en-US" sz="1450" dirty="0"/>
          </a:p>
        </p:txBody>
      </p:sp>
      <p:sp>
        <p:nvSpPr>
          <p:cNvPr id="7" name="Text 5"/>
          <p:cNvSpPr/>
          <p:nvPr/>
        </p:nvSpPr>
        <p:spPr>
          <a:xfrm>
            <a:off x="793790" y="2486382"/>
            <a:ext cx="6341626" cy="235744"/>
          </a:xfrm>
          <a:prstGeom prst="rect">
            <a:avLst/>
          </a:prstGeom>
          <a:noFill/>
          <a:ln/>
        </p:spPr>
        <p:txBody>
          <a:bodyPr wrap="none" lIns="0" tIns="0" rIns="0" bIns="0" rtlCol="0" anchor="t"/>
          <a:lstStyle/>
          <a:p>
            <a:pPr marL="0" indent="0" algn="l">
              <a:lnSpc>
                <a:spcPts val="1850"/>
              </a:lnSpc>
              <a:buNone/>
            </a:pPr>
            <a:r>
              <a:rPr lang="en-US" sz="1150" dirty="0">
                <a:solidFill>
                  <a:srgbClr val="3C3939"/>
                </a:solidFill>
                <a:latin typeface="Roboto" pitchFamily="34" charset="0"/>
                <a:ea typeface="Roboto" pitchFamily="34" charset="-122"/>
                <a:cs typeface="Roboto" pitchFamily="34" charset="-120"/>
              </a:rPr>
              <a:t>Achieved ~95% accuracy for GPA extraction on clean and well-formatted transcript documents.</a:t>
            </a:r>
            <a:endParaRPr lang="en-US" sz="1150" dirty="0"/>
          </a:p>
        </p:txBody>
      </p:sp>
      <p:sp>
        <p:nvSpPr>
          <p:cNvPr id="8" name="Shape 6"/>
          <p:cNvSpPr/>
          <p:nvPr/>
        </p:nvSpPr>
        <p:spPr>
          <a:xfrm>
            <a:off x="793790" y="3090624"/>
            <a:ext cx="5795248" cy="184190"/>
          </a:xfrm>
          <a:prstGeom prst="roundRect">
            <a:avLst>
              <a:gd name="adj" fmla="val 33620"/>
            </a:avLst>
          </a:prstGeom>
          <a:solidFill>
            <a:srgbClr val="E1E1EA"/>
          </a:solidFill>
          <a:ln w="7620">
            <a:solidFill>
              <a:srgbClr val="C7C7D0"/>
            </a:solidFill>
            <a:prstDash val="solid"/>
          </a:ln>
        </p:spPr>
        <p:txBody>
          <a:bodyPr/>
          <a:lstStyle/>
          <a:p>
            <a:endParaRPr lang="en-US"/>
          </a:p>
        </p:txBody>
      </p:sp>
      <p:sp>
        <p:nvSpPr>
          <p:cNvPr id="9" name="Shape 7"/>
          <p:cNvSpPr/>
          <p:nvPr/>
        </p:nvSpPr>
        <p:spPr>
          <a:xfrm>
            <a:off x="793790" y="3090624"/>
            <a:ext cx="5795248" cy="184190"/>
          </a:xfrm>
          <a:prstGeom prst="roundRect">
            <a:avLst>
              <a:gd name="adj" fmla="val 33620"/>
            </a:avLst>
          </a:prstGeom>
          <a:solidFill>
            <a:srgbClr val="1B1B27"/>
          </a:solidFill>
          <a:ln/>
        </p:spPr>
        <p:txBody>
          <a:bodyPr/>
          <a:lstStyle/>
          <a:p>
            <a:endParaRPr lang="en-US"/>
          </a:p>
        </p:txBody>
      </p:sp>
      <p:sp>
        <p:nvSpPr>
          <p:cNvPr id="10" name="Text 8"/>
          <p:cNvSpPr/>
          <p:nvPr/>
        </p:nvSpPr>
        <p:spPr>
          <a:xfrm>
            <a:off x="6699528" y="3090624"/>
            <a:ext cx="435888" cy="184190"/>
          </a:xfrm>
          <a:prstGeom prst="rect">
            <a:avLst/>
          </a:prstGeom>
          <a:noFill/>
          <a:ln/>
        </p:spPr>
        <p:txBody>
          <a:bodyPr wrap="none" lIns="0" tIns="0" rIns="0" bIns="0" rtlCol="0" anchor="t"/>
          <a:lstStyle/>
          <a:p>
            <a:pPr marL="0" indent="0" algn="l">
              <a:lnSpc>
                <a:spcPts val="1450"/>
              </a:lnSpc>
              <a:buNone/>
            </a:pPr>
            <a:r>
              <a:rPr lang="en-US" sz="1450" dirty="0">
                <a:solidFill>
                  <a:srgbClr val="3C3939"/>
                </a:solidFill>
                <a:latin typeface="Raleway" pitchFamily="34" charset="0"/>
                <a:ea typeface="Raleway" pitchFamily="34" charset="-122"/>
                <a:cs typeface="Raleway" pitchFamily="34" charset="-120"/>
              </a:rPr>
              <a:t>100%</a:t>
            </a:r>
            <a:endParaRPr lang="en-US" sz="1450" dirty="0"/>
          </a:p>
        </p:txBody>
      </p:sp>
      <p:sp>
        <p:nvSpPr>
          <p:cNvPr id="11" name="Text 9"/>
          <p:cNvSpPr/>
          <p:nvPr/>
        </p:nvSpPr>
        <p:spPr>
          <a:xfrm>
            <a:off x="793790" y="3459004"/>
            <a:ext cx="2280880" cy="230386"/>
          </a:xfrm>
          <a:prstGeom prst="rect">
            <a:avLst/>
          </a:prstGeom>
          <a:noFill/>
          <a:ln/>
        </p:spPr>
        <p:txBody>
          <a:bodyPr wrap="none" lIns="0" tIns="0" rIns="0" bIns="0" rtlCol="0" anchor="t"/>
          <a:lstStyle/>
          <a:p>
            <a:pPr marL="0" indent="0" algn="l">
              <a:lnSpc>
                <a:spcPts val="1800"/>
              </a:lnSpc>
              <a:buNone/>
            </a:pPr>
            <a:r>
              <a:rPr lang="en-US" sz="1450" dirty="0">
                <a:solidFill>
                  <a:srgbClr val="3C3939"/>
                </a:solidFill>
                <a:latin typeface="Raleway" pitchFamily="34" charset="0"/>
                <a:ea typeface="Raleway" pitchFamily="34" charset="-122"/>
                <a:cs typeface="Raleway" pitchFamily="34" charset="-120"/>
              </a:rPr>
              <a:t>Multi-Format Compatibility</a:t>
            </a:r>
            <a:endParaRPr lang="en-US" sz="1450" dirty="0"/>
          </a:p>
        </p:txBody>
      </p:sp>
      <p:sp>
        <p:nvSpPr>
          <p:cNvPr id="12" name="Text 10"/>
          <p:cNvSpPr/>
          <p:nvPr/>
        </p:nvSpPr>
        <p:spPr>
          <a:xfrm>
            <a:off x="793790" y="3836789"/>
            <a:ext cx="6341626" cy="471488"/>
          </a:xfrm>
          <a:prstGeom prst="rect">
            <a:avLst/>
          </a:prstGeom>
          <a:noFill/>
          <a:ln/>
        </p:spPr>
        <p:txBody>
          <a:bodyPr wrap="square" lIns="0" tIns="0" rIns="0" bIns="0" rtlCol="0" anchor="t"/>
          <a:lstStyle/>
          <a:p>
            <a:pPr marL="0" indent="0" algn="l">
              <a:lnSpc>
                <a:spcPts val="1850"/>
              </a:lnSpc>
              <a:buNone/>
            </a:pPr>
            <a:r>
              <a:rPr lang="en-US" sz="1150" dirty="0">
                <a:solidFill>
                  <a:srgbClr val="3C3939"/>
                </a:solidFill>
                <a:latin typeface="Roboto" pitchFamily="34" charset="0"/>
                <a:ea typeface="Roboto" pitchFamily="34" charset="-122"/>
                <a:cs typeface="Roboto" pitchFamily="34" charset="-120"/>
              </a:rPr>
              <a:t>Successfully processes transcripts from both high-quality PDFs and challenging photographic inputs.</a:t>
            </a:r>
            <a:endParaRPr lang="en-US" sz="1150" dirty="0"/>
          </a:p>
        </p:txBody>
      </p:sp>
      <p:sp>
        <p:nvSpPr>
          <p:cNvPr id="13" name="Shape 11"/>
          <p:cNvSpPr/>
          <p:nvPr/>
        </p:nvSpPr>
        <p:spPr>
          <a:xfrm>
            <a:off x="793790" y="4676775"/>
            <a:ext cx="5795248" cy="184190"/>
          </a:xfrm>
          <a:prstGeom prst="roundRect">
            <a:avLst>
              <a:gd name="adj" fmla="val 33620"/>
            </a:avLst>
          </a:prstGeom>
          <a:solidFill>
            <a:srgbClr val="E1E1EA"/>
          </a:solidFill>
          <a:ln w="7620">
            <a:solidFill>
              <a:srgbClr val="C7C7D0"/>
            </a:solidFill>
            <a:prstDash val="solid"/>
          </a:ln>
        </p:spPr>
        <p:txBody>
          <a:bodyPr/>
          <a:lstStyle/>
          <a:p>
            <a:endParaRPr lang="en-US"/>
          </a:p>
        </p:txBody>
      </p:sp>
      <p:sp>
        <p:nvSpPr>
          <p:cNvPr id="14" name="Shape 12"/>
          <p:cNvSpPr/>
          <p:nvPr/>
        </p:nvSpPr>
        <p:spPr>
          <a:xfrm>
            <a:off x="793790" y="4676775"/>
            <a:ext cx="5795248" cy="184190"/>
          </a:xfrm>
          <a:prstGeom prst="roundRect">
            <a:avLst>
              <a:gd name="adj" fmla="val 33620"/>
            </a:avLst>
          </a:prstGeom>
          <a:solidFill>
            <a:srgbClr val="1B1B27"/>
          </a:solidFill>
          <a:ln/>
        </p:spPr>
        <p:txBody>
          <a:bodyPr/>
          <a:lstStyle/>
          <a:p>
            <a:endParaRPr lang="en-US"/>
          </a:p>
        </p:txBody>
      </p:sp>
      <p:sp>
        <p:nvSpPr>
          <p:cNvPr id="15" name="Text 13"/>
          <p:cNvSpPr/>
          <p:nvPr/>
        </p:nvSpPr>
        <p:spPr>
          <a:xfrm>
            <a:off x="6699528" y="4676775"/>
            <a:ext cx="435888" cy="184190"/>
          </a:xfrm>
          <a:prstGeom prst="rect">
            <a:avLst/>
          </a:prstGeom>
          <a:noFill/>
          <a:ln/>
        </p:spPr>
        <p:txBody>
          <a:bodyPr wrap="none" lIns="0" tIns="0" rIns="0" bIns="0" rtlCol="0" anchor="t"/>
          <a:lstStyle/>
          <a:p>
            <a:pPr marL="0" indent="0" algn="l">
              <a:lnSpc>
                <a:spcPts val="1450"/>
              </a:lnSpc>
              <a:buNone/>
            </a:pPr>
            <a:r>
              <a:rPr lang="en-US" sz="1450" dirty="0">
                <a:solidFill>
                  <a:srgbClr val="3C3939"/>
                </a:solidFill>
                <a:latin typeface="Raleway" pitchFamily="34" charset="0"/>
                <a:ea typeface="Raleway" pitchFamily="34" charset="-122"/>
                <a:cs typeface="Raleway" pitchFamily="34" charset="-120"/>
              </a:rPr>
              <a:t>100%</a:t>
            </a:r>
            <a:endParaRPr lang="en-US" sz="1450" dirty="0"/>
          </a:p>
        </p:txBody>
      </p:sp>
      <p:sp>
        <p:nvSpPr>
          <p:cNvPr id="16" name="Text 14"/>
          <p:cNvSpPr/>
          <p:nvPr/>
        </p:nvSpPr>
        <p:spPr>
          <a:xfrm>
            <a:off x="793790" y="5045154"/>
            <a:ext cx="2235875" cy="230386"/>
          </a:xfrm>
          <a:prstGeom prst="rect">
            <a:avLst/>
          </a:prstGeom>
          <a:noFill/>
          <a:ln/>
        </p:spPr>
        <p:txBody>
          <a:bodyPr wrap="none" lIns="0" tIns="0" rIns="0" bIns="0" rtlCol="0" anchor="t"/>
          <a:lstStyle/>
          <a:p>
            <a:pPr marL="0" indent="0" algn="l">
              <a:lnSpc>
                <a:spcPts val="1800"/>
              </a:lnSpc>
              <a:buNone/>
            </a:pPr>
            <a:r>
              <a:rPr lang="en-US" sz="1450" dirty="0">
                <a:solidFill>
                  <a:srgbClr val="3C3939"/>
                </a:solidFill>
                <a:latin typeface="Raleway" pitchFamily="34" charset="0"/>
                <a:ea typeface="Raleway" pitchFamily="34" charset="-122"/>
                <a:cs typeface="Raleway" pitchFamily="34" charset="-120"/>
              </a:rPr>
              <a:t>Eligibility Engine Validated</a:t>
            </a:r>
            <a:endParaRPr lang="en-US" sz="1450" dirty="0"/>
          </a:p>
        </p:txBody>
      </p:sp>
      <p:sp>
        <p:nvSpPr>
          <p:cNvPr id="17" name="Text 15"/>
          <p:cNvSpPr/>
          <p:nvPr/>
        </p:nvSpPr>
        <p:spPr>
          <a:xfrm>
            <a:off x="793790" y="5422940"/>
            <a:ext cx="6341626" cy="235744"/>
          </a:xfrm>
          <a:prstGeom prst="rect">
            <a:avLst/>
          </a:prstGeom>
          <a:noFill/>
          <a:ln/>
        </p:spPr>
        <p:txBody>
          <a:bodyPr wrap="none" lIns="0" tIns="0" rIns="0" bIns="0" rtlCol="0" anchor="t"/>
          <a:lstStyle/>
          <a:p>
            <a:pPr marL="0" indent="0" algn="l">
              <a:lnSpc>
                <a:spcPts val="1850"/>
              </a:lnSpc>
              <a:buNone/>
            </a:pPr>
            <a:r>
              <a:rPr lang="en-US" sz="1150" dirty="0">
                <a:solidFill>
                  <a:srgbClr val="3C3939"/>
                </a:solidFill>
                <a:latin typeface="Roboto" pitchFamily="34" charset="0"/>
                <a:ea typeface="Roboto" pitchFamily="34" charset="-122"/>
                <a:cs typeface="Roboto" pitchFamily="34" charset="-120"/>
              </a:rPr>
              <a:t>The rule-based eligibility engine consistently delivers accurate program assessments.</a:t>
            </a:r>
            <a:endParaRPr lang="en-US" sz="1150" dirty="0"/>
          </a:p>
        </p:txBody>
      </p:sp>
      <p:sp>
        <p:nvSpPr>
          <p:cNvPr id="18" name="Shape 16"/>
          <p:cNvSpPr/>
          <p:nvPr/>
        </p:nvSpPr>
        <p:spPr>
          <a:xfrm>
            <a:off x="793790" y="6027182"/>
            <a:ext cx="5877639" cy="184190"/>
          </a:xfrm>
          <a:prstGeom prst="roundRect">
            <a:avLst>
              <a:gd name="adj" fmla="val 33620"/>
            </a:avLst>
          </a:prstGeom>
          <a:solidFill>
            <a:srgbClr val="E1E1EA"/>
          </a:solidFill>
          <a:ln w="7620">
            <a:solidFill>
              <a:srgbClr val="C7C7D0"/>
            </a:solidFill>
            <a:prstDash val="solid"/>
          </a:ln>
        </p:spPr>
        <p:txBody>
          <a:bodyPr/>
          <a:lstStyle/>
          <a:p>
            <a:endParaRPr lang="en-US"/>
          </a:p>
        </p:txBody>
      </p:sp>
      <p:sp>
        <p:nvSpPr>
          <p:cNvPr id="19" name="Shape 17"/>
          <p:cNvSpPr/>
          <p:nvPr/>
        </p:nvSpPr>
        <p:spPr>
          <a:xfrm>
            <a:off x="793790" y="6027182"/>
            <a:ext cx="4702016" cy="184190"/>
          </a:xfrm>
          <a:prstGeom prst="roundRect">
            <a:avLst>
              <a:gd name="adj" fmla="val 33620"/>
            </a:avLst>
          </a:prstGeom>
          <a:solidFill>
            <a:srgbClr val="1B1B27"/>
          </a:solidFill>
          <a:ln/>
        </p:spPr>
        <p:txBody>
          <a:bodyPr/>
          <a:lstStyle/>
          <a:p>
            <a:endParaRPr lang="en-US"/>
          </a:p>
        </p:txBody>
      </p:sp>
      <p:sp>
        <p:nvSpPr>
          <p:cNvPr id="20" name="Text 18"/>
          <p:cNvSpPr/>
          <p:nvPr/>
        </p:nvSpPr>
        <p:spPr>
          <a:xfrm>
            <a:off x="6781919" y="6027182"/>
            <a:ext cx="353497" cy="184190"/>
          </a:xfrm>
          <a:prstGeom prst="rect">
            <a:avLst/>
          </a:prstGeom>
          <a:noFill/>
          <a:ln/>
        </p:spPr>
        <p:txBody>
          <a:bodyPr wrap="none" lIns="0" tIns="0" rIns="0" bIns="0" rtlCol="0" anchor="t"/>
          <a:lstStyle/>
          <a:p>
            <a:pPr marL="0" indent="0" algn="l">
              <a:lnSpc>
                <a:spcPts val="1450"/>
              </a:lnSpc>
              <a:buNone/>
            </a:pPr>
            <a:r>
              <a:rPr lang="en-US" sz="1450" dirty="0">
                <a:solidFill>
                  <a:srgbClr val="3C3939"/>
                </a:solidFill>
                <a:latin typeface="Raleway" pitchFamily="34" charset="0"/>
                <a:ea typeface="Raleway" pitchFamily="34" charset="-122"/>
                <a:cs typeface="Raleway" pitchFamily="34" charset="-120"/>
              </a:rPr>
              <a:t>80%</a:t>
            </a:r>
            <a:endParaRPr lang="en-US" sz="1450" dirty="0"/>
          </a:p>
        </p:txBody>
      </p:sp>
      <p:sp>
        <p:nvSpPr>
          <p:cNvPr id="21" name="Text 19"/>
          <p:cNvSpPr/>
          <p:nvPr/>
        </p:nvSpPr>
        <p:spPr>
          <a:xfrm>
            <a:off x="793790" y="6395561"/>
            <a:ext cx="2753082" cy="230386"/>
          </a:xfrm>
          <a:prstGeom prst="rect">
            <a:avLst/>
          </a:prstGeom>
          <a:noFill/>
          <a:ln/>
        </p:spPr>
        <p:txBody>
          <a:bodyPr wrap="none" lIns="0" tIns="0" rIns="0" bIns="0" rtlCol="0" anchor="t"/>
          <a:lstStyle/>
          <a:p>
            <a:pPr marL="0" indent="0" algn="l">
              <a:lnSpc>
                <a:spcPts val="1800"/>
              </a:lnSpc>
              <a:buNone/>
            </a:pPr>
            <a:r>
              <a:rPr lang="en-US" sz="1450" dirty="0">
                <a:solidFill>
                  <a:srgbClr val="3C3939"/>
                </a:solidFill>
                <a:latin typeface="Raleway" pitchFamily="34" charset="0"/>
                <a:ea typeface="Raleway" pitchFamily="34" charset="-122"/>
                <a:cs typeface="Raleway" pitchFamily="34" charset="-120"/>
              </a:rPr>
              <a:t>LayoutLMv3 Region Recognition</a:t>
            </a:r>
            <a:endParaRPr lang="en-US" sz="1450" dirty="0"/>
          </a:p>
        </p:txBody>
      </p:sp>
      <p:sp>
        <p:nvSpPr>
          <p:cNvPr id="22" name="Text 20"/>
          <p:cNvSpPr/>
          <p:nvPr/>
        </p:nvSpPr>
        <p:spPr>
          <a:xfrm>
            <a:off x="793790" y="6773347"/>
            <a:ext cx="6341626" cy="471488"/>
          </a:xfrm>
          <a:prstGeom prst="rect">
            <a:avLst/>
          </a:prstGeom>
          <a:noFill/>
          <a:ln/>
        </p:spPr>
        <p:txBody>
          <a:bodyPr wrap="square" lIns="0" tIns="0" rIns="0" bIns="0" rtlCol="0" anchor="t"/>
          <a:lstStyle/>
          <a:p>
            <a:pPr marL="0" indent="0" algn="l">
              <a:lnSpc>
                <a:spcPts val="1850"/>
              </a:lnSpc>
              <a:buNone/>
            </a:pPr>
            <a:r>
              <a:rPr lang="en-US" sz="1150" dirty="0">
                <a:solidFill>
                  <a:srgbClr val="3C3939"/>
                </a:solidFill>
                <a:latin typeface="Roboto" pitchFamily="34" charset="0"/>
                <a:ea typeface="Roboto" pitchFamily="34" charset="-122"/>
                <a:cs typeface="Roboto" pitchFamily="34" charset="-120"/>
              </a:rPr>
              <a:t>LayoutLMv3 effectively identifies and extracts NAME and SUBJECT regions from complex layouts.</a:t>
            </a:r>
            <a:endParaRPr lang="en-US" sz="1150" dirty="0"/>
          </a:p>
        </p:txBody>
      </p:sp>
      <p:sp>
        <p:nvSpPr>
          <p:cNvPr id="23" name="Text 21"/>
          <p:cNvSpPr/>
          <p:nvPr/>
        </p:nvSpPr>
        <p:spPr>
          <a:xfrm>
            <a:off x="7502604" y="1633299"/>
            <a:ext cx="6341626" cy="942975"/>
          </a:xfrm>
          <a:prstGeom prst="rect">
            <a:avLst/>
          </a:prstGeom>
          <a:noFill/>
          <a:ln/>
        </p:spPr>
        <p:txBody>
          <a:bodyPr wrap="square" lIns="0" tIns="0" rIns="0" bIns="0" rtlCol="0" anchor="t"/>
          <a:lstStyle/>
          <a:p>
            <a:pPr marL="0" indent="0" algn="l">
              <a:lnSpc>
                <a:spcPts val="1850"/>
              </a:lnSpc>
              <a:buNone/>
            </a:pPr>
            <a:r>
              <a:rPr lang="en-US" sz="1150" dirty="0">
                <a:solidFill>
                  <a:srgbClr val="3C3939"/>
                </a:solidFill>
                <a:latin typeface="Roboto" pitchFamily="34" charset="0"/>
                <a:ea typeface="Roboto" pitchFamily="34" charset="-122"/>
                <a:cs typeface="Roboto" pitchFamily="34" charset="-120"/>
              </a:rPr>
              <a:t>This project demonstrates the significant potential of AI to revolutionize academic admissions, making processes faster, more accurate, and more scalable. Future work will focus on enhancing GPA extraction for noisy documents and expanding the system to handle more diverse document types and languages.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6AAC7-88AE-A8DC-20F6-5421AC33D26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0421A45-0CCE-BCB1-02E1-F4838466069D}"/>
              </a:ext>
            </a:extLst>
          </p:cNvPr>
          <p:cNvSpPr/>
          <p:nvPr/>
        </p:nvSpPr>
        <p:spPr>
          <a:xfrm>
            <a:off x="793790" y="818793"/>
            <a:ext cx="6522125" cy="460772"/>
          </a:xfrm>
          <a:prstGeom prst="rect">
            <a:avLst/>
          </a:prstGeom>
          <a:noFill/>
          <a:ln/>
        </p:spPr>
        <p:txBody>
          <a:bodyPr wrap="none" lIns="0" tIns="0" rIns="0" bIns="0" rtlCol="0" anchor="t"/>
          <a:lstStyle/>
          <a:p>
            <a:pPr marL="0" indent="0" algn="l">
              <a:lnSpc>
                <a:spcPts val="3600"/>
              </a:lnSpc>
              <a:buNone/>
            </a:pPr>
            <a:r>
              <a:rPr lang="en-US" sz="2900" dirty="0">
                <a:solidFill>
                  <a:srgbClr val="1B1B27"/>
                </a:solidFill>
                <a:latin typeface="Raleway" pitchFamily="34" charset="0"/>
                <a:ea typeface="Raleway" pitchFamily="34" charset="-122"/>
                <a:cs typeface="Raleway" pitchFamily="34" charset="-120"/>
              </a:rPr>
              <a:t>Future Enhancements</a:t>
            </a:r>
            <a:endParaRPr lang="en-US" sz="2900" dirty="0"/>
          </a:p>
        </p:txBody>
      </p:sp>
      <p:sp>
        <p:nvSpPr>
          <p:cNvPr id="24" name="Text 4">
            <a:extLst>
              <a:ext uri="{FF2B5EF4-FFF2-40B4-BE49-F238E27FC236}">
                <a16:creationId xmlns:a16="http://schemas.microsoft.com/office/drawing/2014/main" id="{6D1EFCCE-A69B-AE27-8111-84CC2147F27E}"/>
              </a:ext>
            </a:extLst>
          </p:cNvPr>
          <p:cNvSpPr/>
          <p:nvPr/>
        </p:nvSpPr>
        <p:spPr>
          <a:xfrm>
            <a:off x="793790" y="1490825"/>
            <a:ext cx="11138289" cy="4942942"/>
          </a:xfrm>
          <a:prstGeom prst="rect">
            <a:avLst/>
          </a:prstGeom>
          <a:noFill/>
          <a:ln/>
        </p:spPr>
        <p:txBody>
          <a:bodyPr wrap="none" lIns="0" tIns="0" rIns="0" bIns="0" rtlCol="0" anchor="t"/>
          <a:lstStyle/>
          <a:p>
            <a:pPr marL="285750" indent="-285750">
              <a:lnSpc>
                <a:spcPts val="1800"/>
              </a:lnSpc>
              <a:buFont typeface="Wingdings" panose="05000000000000000000" pitchFamily="2" charset="2"/>
              <a:buChar char="Ø"/>
            </a:pPr>
            <a:r>
              <a:rPr lang="en-US" sz="1450" dirty="0">
                <a:solidFill>
                  <a:srgbClr val="3C3939"/>
                </a:solidFill>
                <a:latin typeface="Raleway" pitchFamily="34" charset="0"/>
                <a:ea typeface="Raleway" pitchFamily="34" charset="-122"/>
                <a:cs typeface="Raleway" pitchFamily="34" charset="-120"/>
              </a:rPr>
              <a:t>Improve Name and GPA extraction accuracy</a:t>
            </a:r>
          </a:p>
          <a:p>
            <a:pPr marL="285750" indent="-285750">
              <a:lnSpc>
                <a:spcPts val="1800"/>
              </a:lnSpc>
              <a:buFont typeface="Wingdings" panose="05000000000000000000" pitchFamily="2" charset="2"/>
              <a:buChar char="Ø"/>
            </a:pPr>
            <a:endParaRPr lang="en-US" sz="1450" dirty="0">
              <a:solidFill>
                <a:srgbClr val="3C3939"/>
              </a:solidFill>
              <a:latin typeface="Raleway" pitchFamily="34" charset="0"/>
              <a:ea typeface="Raleway" pitchFamily="34" charset="-122"/>
              <a:cs typeface="Raleway" pitchFamily="34" charset="-120"/>
            </a:endParaRPr>
          </a:p>
          <a:p>
            <a:pPr marL="285750" indent="-285750">
              <a:lnSpc>
                <a:spcPts val="1800"/>
              </a:lnSpc>
              <a:buFont typeface="Wingdings" panose="05000000000000000000" pitchFamily="2" charset="2"/>
              <a:buChar char="Ø"/>
            </a:pPr>
            <a:r>
              <a:rPr lang="en-US" sz="1450" dirty="0">
                <a:solidFill>
                  <a:srgbClr val="3C3939"/>
                </a:solidFill>
                <a:latin typeface="Raleway" pitchFamily="34" charset="0"/>
                <a:ea typeface="Raleway" pitchFamily="34" charset="-122"/>
                <a:cs typeface="Raleway" pitchFamily="34" charset="-120"/>
              </a:rPr>
              <a:t>Add more program-specific eligibility rules</a:t>
            </a:r>
          </a:p>
          <a:p>
            <a:pPr marL="285750" indent="-285750">
              <a:lnSpc>
                <a:spcPts val="1800"/>
              </a:lnSpc>
              <a:buFont typeface="Wingdings" panose="05000000000000000000" pitchFamily="2" charset="2"/>
              <a:buChar char="Ø"/>
            </a:pPr>
            <a:endParaRPr lang="en-US" sz="1450" dirty="0">
              <a:solidFill>
                <a:srgbClr val="3C3939"/>
              </a:solidFill>
              <a:latin typeface="Raleway" pitchFamily="34" charset="0"/>
              <a:ea typeface="Raleway" pitchFamily="34" charset="-122"/>
              <a:cs typeface="Raleway" pitchFamily="34" charset="-120"/>
            </a:endParaRPr>
          </a:p>
          <a:p>
            <a:pPr marL="285750" indent="-285750">
              <a:lnSpc>
                <a:spcPts val="1800"/>
              </a:lnSpc>
              <a:buFont typeface="Wingdings" panose="05000000000000000000" pitchFamily="2" charset="2"/>
              <a:buChar char="Ø"/>
            </a:pPr>
            <a:r>
              <a:rPr lang="en-US" sz="1450" dirty="0">
                <a:solidFill>
                  <a:srgbClr val="3C3939"/>
                </a:solidFill>
                <a:latin typeface="Raleway" pitchFamily="34" charset="0"/>
                <a:ea typeface="Raleway" pitchFamily="34" charset="-122"/>
                <a:cs typeface="Raleway" pitchFamily="34" charset="-120"/>
              </a:rPr>
              <a:t>UI upgrades: PDF preview, batch upload</a:t>
            </a:r>
          </a:p>
          <a:p>
            <a:pPr marL="285750" indent="-285750">
              <a:lnSpc>
                <a:spcPts val="1800"/>
              </a:lnSpc>
              <a:buFont typeface="Wingdings" panose="05000000000000000000" pitchFamily="2" charset="2"/>
              <a:buChar char="Ø"/>
            </a:pPr>
            <a:endParaRPr lang="en-US" sz="1450" dirty="0">
              <a:solidFill>
                <a:srgbClr val="3C3939"/>
              </a:solidFill>
              <a:latin typeface="Raleway" pitchFamily="34" charset="0"/>
              <a:ea typeface="Raleway" pitchFamily="34" charset="-122"/>
              <a:cs typeface="Raleway" pitchFamily="34" charset="-120"/>
            </a:endParaRPr>
          </a:p>
          <a:p>
            <a:pPr marL="285750" indent="-285750">
              <a:lnSpc>
                <a:spcPts val="1800"/>
              </a:lnSpc>
              <a:buFont typeface="Wingdings" panose="05000000000000000000" pitchFamily="2" charset="2"/>
              <a:buChar char="Ø"/>
            </a:pPr>
            <a:r>
              <a:rPr lang="en-US" sz="1450" dirty="0">
                <a:solidFill>
                  <a:srgbClr val="3C3939"/>
                </a:solidFill>
                <a:latin typeface="Raleway" pitchFamily="34" charset="0"/>
                <a:ea typeface="Raleway" pitchFamily="34" charset="-122"/>
                <a:cs typeface="Raleway" pitchFamily="34" charset="-120"/>
              </a:rPr>
              <a:t>Train LayoutLMv3 using synthetic annotated transcripts</a:t>
            </a:r>
          </a:p>
          <a:p>
            <a:pPr marL="285750" indent="-285750">
              <a:lnSpc>
                <a:spcPts val="1800"/>
              </a:lnSpc>
              <a:buFont typeface="Wingdings" panose="05000000000000000000" pitchFamily="2" charset="2"/>
              <a:buChar char="Ø"/>
            </a:pPr>
            <a:endParaRPr lang="en-US" sz="1450" dirty="0">
              <a:solidFill>
                <a:srgbClr val="3C3939"/>
              </a:solidFill>
              <a:latin typeface="Raleway" pitchFamily="34" charset="0"/>
              <a:ea typeface="Raleway" pitchFamily="34" charset="-122"/>
              <a:cs typeface="Raleway" pitchFamily="34" charset="-120"/>
            </a:endParaRPr>
          </a:p>
          <a:p>
            <a:pPr marL="285750" indent="-285750">
              <a:lnSpc>
                <a:spcPts val="1800"/>
              </a:lnSpc>
              <a:buFont typeface="Wingdings" panose="05000000000000000000" pitchFamily="2" charset="2"/>
              <a:buChar char="Ø"/>
            </a:pPr>
            <a:r>
              <a:rPr lang="en-US" sz="1450" dirty="0">
                <a:solidFill>
                  <a:srgbClr val="3C3939"/>
                </a:solidFill>
                <a:latin typeface="Raleway" pitchFamily="34" charset="0"/>
                <a:ea typeface="Raleway" pitchFamily="34" charset="-122"/>
                <a:cs typeface="Raleway" pitchFamily="34" charset="-120"/>
              </a:rPr>
              <a:t>Introduce OCR-free models (Donut 2.0) for comparison</a:t>
            </a:r>
          </a:p>
          <a:p>
            <a:pPr marL="285750" indent="-285750">
              <a:lnSpc>
                <a:spcPts val="1800"/>
              </a:lnSpc>
              <a:buFont typeface="Wingdings" panose="05000000000000000000" pitchFamily="2" charset="2"/>
              <a:buChar char="Ø"/>
            </a:pPr>
            <a:endParaRPr lang="en-US" sz="1450" dirty="0">
              <a:solidFill>
                <a:srgbClr val="3C3939"/>
              </a:solidFill>
              <a:latin typeface="Raleway" pitchFamily="34" charset="0"/>
              <a:ea typeface="Raleway" pitchFamily="34" charset="-122"/>
              <a:cs typeface="Raleway" pitchFamily="34" charset="-120"/>
            </a:endParaRPr>
          </a:p>
          <a:p>
            <a:pPr marL="285750" indent="-285750">
              <a:lnSpc>
                <a:spcPts val="1800"/>
              </a:lnSpc>
              <a:buFont typeface="Wingdings" panose="05000000000000000000" pitchFamily="2" charset="2"/>
              <a:buChar char="Ø"/>
            </a:pPr>
            <a:r>
              <a:rPr lang="en-US" sz="1450" dirty="0">
                <a:solidFill>
                  <a:srgbClr val="3C3939"/>
                </a:solidFill>
                <a:latin typeface="Raleway" pitchFamily="34" charset="0"/>
                <a:ea typeface="Raleway" pitchFamily="34" charset="-122"/>
                <a:cs typeface="Raleway" pitchFamily="34" charset="-120"/>
              </a:rPr>
              <a:t>Multi-page transcript analysis</a:t>
            </a:r>
          </a:p>
          <a:p>
            <a:pPr marL="285750" indent="-285750">
              <a:lnSpc>
                <a:spcPts val="1800"/>
              </a:lnSpc>
              <a:buFont typeface="Wingdings" panose="05000000000000000000" pitchFamily="2" charset="2"/>
              <a:buChar char="Ø"/>
            </a:pPr>
            <a:endParaRPr lang="en-US" sz="1450" dirty="0">
              <a:solidFill>
                <a:srgbClr val="3C3939"/>
              </a:solidFill>
              <a:latin typeface="Raleway" pitchFamily="34" charset="0"/>
              <a:ea typeface="Raleway" pitchFamily="34" charset="-122"/>
              <a:cs typeface="Raleway" pitchFamily="34" charset="-120"/>
            </a:endParaRPr>
          </a:p>
          <a:p>
            <a:pPr marL="285750" indent="-285750">
              <a:lnSpc>
                <a:spcPts val="1800"/>
              </a:lnSpc>
              <a:buFont typeface="Wingdings" panose="05000000000000000000" pitchFamily="2" charset="2"/>
              <a:buChar char="Ø"/>
            </a:pPr>
            <a:r>
              <a:rPr lang="en-US" sz="1450" dirty="0">
                <a:solidFill>
                  <a:srgbClr val="3C3939"/>
                </a:solidFill>
                <a:latin typeface="Raleway" pitchFamily="34" charset="0"/>
                <a:ea typeface="Raleway" pitchFamily="34" charset="-122"/>
                <a:cs typeface="Raleway" pitchFamily="34" charset="-120"/>
              </a:rPr>
              <a:t>Build FERPA-compliant synthetic transcript dataset</a:t>
            </a:r>
          </a:p>
          <a:p>
            <a:pPr marL="285750" indent="-285750">
              <a:lnSpc>
                <a:spcPts val="1800"/>
              </a:lnSpc>
              <a:buFont typeface="Wingdings" panose="05000000000000000000" pitchFamily="2" charset="2"/>
              <a:buChar char="Ø"/>
            </a:pPr>
            <a:endParaRPr lang="en-US" sz="1450" dirty="0">
              <a:solidFill>
                <a:srgbClr val="3C3939"/>
              </a:solidFill>
              <a:latin typeface="Raleway" pitchFamily="34" charset="0"/>
              <a:ea typeface="Raleway" pitchFamily="34" charset="-122"/>
              <a:cs typeface="Raleway" pitchFamily="34" charset="-120"/>
            </a:endParaRPr>
          </a:p>
          <a:p>
            <a:pPr marL="285750" indent="-285750">
              <a:lnSpc>
                <a:spcPts val="1800"/>
              </a:lnSpc>
              <a:buFont typeface="Wingdings" panose="05000000000000000000" pitchFamily="2" charset="2"/>
              <a:buChar char="Ø"/>
            </a:pPr>
            <a:r>
              <a:rPr lang="en-US" sz="1450" dirty="0">
                <a:solidFill>
                  <a:srgbClr val="3C3939"/>
                </a:solidFill>
                <a:latin typeface="Raleway" pitchFamily="34" charset="0"/>
                <a:ea typeface="Raleway" pitchFamily="34" charset="-122"/>
                <a:cs typeface="Raleway" pitchFamily="34" charset="-120"/>
              </a:rPr>
              <a:t>Deploy system as secure cloud service</a:t>
            </a:r>
          </a:p>
          <a:p>
            <a:pPr marL="285750" indent="-285750">
              <a:lnSpc>
                <a:spcPts val="1800"/>
              </a:lnSpc>
              <a:buFont typeface="Wingdings" panose="05000000000000000000" pitchFamily="2" charset="2"/>
              <a:buChar char="Ø"/>
            </a:pPr>
            <a:endParaRPr lang="en-US" sz="1450" dirty="0">
              <a:solidFill>
                <a:srgbClr val="3C3939"/>
              </a:solidFill>
              <a:latin typeface="Raleway" pitchFamily="34" charset="0"/>
              <a:ea typeface="Raleway" pitchFamily="34" charset="-122"/>
              <a:cs typeface="Raleway" pitchFamily="34" charset="-120"/>
            </a:endParaRPr>
          </a:p>
          <a:p>
            <a:pPr marL="285750" indent="-285750">
              <a:lnSpc>
                <a:spcPts val="1800"/>
              </a:lnSpc>
              <a:buFont typeface="Wingdings" panose="05000000000000000000" pitchFamily="2" charset="2"/>
              <a:buChar char="Ø"/>
            </a:pPr>
            <a:r>
              <a:rPr lang="en-US" sz="1450" dirty="0">
                <a:solidFill>
                  <a:srgbClr val="3C3939"/>
                </a:solidFill>
                <a:latin typeface="Raleway" pitchFamily="34" charset="0"/>
                <a:ea typeface="Raleway" pitchFamily="34" charset="-122"/>
                <a:cs typeface="Raleway" pitchFamily="34" charset="-120"/>
              </a:rPr>
              <a:t>Support GPA normalization across grading scales</a:t>
            </a:r>
          </a:p>
          <a:p>
            <a:pPr marL="285750" indent="-285750">
              <a:lnSpc>
                <a:spcPts val="1800"/>
              </a:lnSpc>
              <a:buFont typeface="Wingdings" panose="05000000000000000000" pitchFamily="2" charset="2"/>
              <a:buChar char="Ø"/>
            </a:pPr>
            <a:endParaRPr lang="en-US" sz="1450" dirty="0">
              <a:solidFill>
                <a:srgbClr val="3C3939"/>
              </a:solidFill>
              <a:latin typeface="Raleway" pitchFamily="34" charset="0"/>
              <a:ea typeface="Raleway" pitchFamily="34" charset="-122"/>
              <a:cs typeface="Raleway" pitchFamily="34" charset="-120"/>
            </a:endParaRPr>
          </a:p>
          <a:p>
            <a:pPr marL="285750" indent="-285750">
              <a:lnSpc>
                <a:spcPts val="1800"/>
              </a:lnSpc>
              <a:buFont typeface="Wingdings" panose="05000000000000000000" pitchFamily="2" charset="2"/>
              <a:buChar char="Ø"/>
            </a:pPr>
            <a:r>
              <a:rPr lang="en-US" sz="1450" dirty="0">
                <a:solidFill>
                  <a:srgbClr val="3C3939"/>
                </a:solidFill>
                <a:latin typeface="Raleway" pitchFamily="34" charset="0"/>
                <a:ea typeface="Raleway" pitchFamily="34" charset="-122"/>
                <a:cs typeface="Raleway" pitchFamily="34" charset="-120"/>
              </a:rPr>
              <a:t>Integrate workflow tools for admissions teams</a:t>
            </a:r>
            <a:endParaRPr lang="en-US" sz="1450" dirty="0"/>
          </a:p>
        </p:txBody>
      </p:sp>
    </p:spTree>
    <p:extLst>
      <p:ext uri="{BB962C8B-B14F-4D97-AF65-F5344CB8AC3E}">
        <p14:creationId xmlns:p14="http://schemas.microsoft.com/office/powerpoint/2010/main" val="42844137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1053</Words>
  <Application>Microsoft Office PowerPoint</Application>
  <PresentationFormat>Custom</PresentationFormat>
  <Paragraphs>130</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Wingdings</vt:lpstr>
      <vt:lpstr>Raleway</vt:lpstr>
      <vt:lpstr>Roboto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Sushanth Arunachalam [student]</cp:lastModifiedBy>
  <cp:revision>3</cp:revision>
  <dcterms:created xsi:type="dcterms:W3CDTF">2025-12-11T13:21:19Z</dcterms:created>
  <dcterms:modified xsi:type="dcterms:W3CDTF">2025-12-11T15:01:00Z</dcterms:modified>
</cp:coreProperties>
</file>